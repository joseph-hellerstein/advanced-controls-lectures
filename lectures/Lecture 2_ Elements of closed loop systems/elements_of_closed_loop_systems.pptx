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535" r:id="rId4"/>
    <p:sldId id="523" r:id="rId5"/>
    <p:sldId id="531" r:id="rId6"/>
    <p:sldId id="532" r:id="rId7"/>
    <p:sldId id="534" r:id="rId8"/>
    <p:sldId id="524" r:id="rId9"/>
    <p:sldId id="525" r:id="rId10"/>
    <p:sldId id="526" r:id="rId11"/>
    <p:sldId id="527" r:id="rId12"/>
    <p:sldId id="528" r:id="rId13"/>
    <p:sldId id="536" r:id="rId14"/>
    <p:sldId id="529" r:id="rId15"/>
  </p:sldIdLst>
  <p:sldSz cx="9144000" cy="6858000" type="screen4x3"/>
  <p:notesSz cx="6858000" cy="9144000"/>
  <p:embeddedFontLst>
    <p:embeddedFont>
      <p:font typeface="Cambria Math" panose="02040503050406030204" pitchFamily="18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3" roundtripDataSignature="AMtx7mgCuaoS/ao6GLJNkk1J/HieLCYV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/>
    <p:restoredTop sz="94694"/>
  </p:normalViewPr>
  <p:slideViewPr>
    <p:cSldViewPr snapToGrid="0">
      <p:cViewPr varScale="1">
        <p:scale>
          <a:sx n="121" d="100"/>
          <a:sy n="121" d="100"/>
        </p:scale>
        <p:origin x="20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8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43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Diverse students. Some with bio-backgrounds; some without. Some with CS background; some with very limited. Two separate courses combined because of a substantial shared curriculum.</a:t>
            </a:r>
            <a:endParaRPr/>
          </a:p>
        </p:txBody>
      </p:sp>
      <p:sp>
        <p:nvSpPr>
          <p:cNvPr id="94" name="Google Shape;9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810048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7645465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4858314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3657698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doesn’t a filter help with measurement noise? Verify transfer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E3608CA-DBCA-4E8F-8DAB-6E1AFAF19782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20463301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5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5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2;p35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5"/>
          <p:cNvSpPr/>
          <p:nvPr/>
        </p:nvSpPr>
        <p:spPr>
          <a:xfrm rot="10800000" flipH="1">
            <a:off x="8167688" y="6348413"/>
            <a:ext cx="585787" cy="396875"/>
          </a:xfrm>
          <a:prstGeom prst="trapezoid">
            <a:avLst>
              <a:gd name="adj" fmla="val 25000"/>
            </a:avLst>
          </a:prstGeom>
          <a:solidFill>
            <a:srgbClr val="3B18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" name="Google Shape;24;p35" descr="UW_W-Logo_RGB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69275" y="6348413"/>
            <a:ext cx="59372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5"/>
          <p:cNvSpPr txBox="1">
            <a:spLocks noGrp="1"/>
          </p:cNvSpPr>
          <p:nvPr>
            <p:ph type="ctrTitle"/>
          </p:nvPr>
        </p:nvSpPr>
        <p:spPr>
          <a:xfrm>
            <a:off x="685800" y="1752600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5"/>
          <p:cNvSpPr txBox="1">
            <a:spLocks noGrp="1"/>
          </p:cNvSpPr>
          <p:nvPr>
            <p:ph type="subTitle" idx="1"/>
          </p:nvPr>
        </p:nvSpPr>
        <p:spPr>
          <a:xfrm>
            <a:off x="1371600" y="3508375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5"/>
          <p:cNvSpPr txBox="1">
            <a:spLocks noGrp="1"/>
          </p:cNvSpPr>
          <p:nvPr>
            <p:ph type="dt" idx="10"/>
          </p:nvPr>
        </p:nvSpPr>
        <p:spPr>
          <a:xfrm>
            <a:off x="447675" y="59436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5"/>
          <p:cNvSpPr txBox="1">
            <a:spLocks noGrp="1"/>
          </p:cNvSpPr>
          <p:nvPr>
            <p:ph type="ftr" idx="11"/>
          </p:nvPr>
        </p:nvSpPr>
        <p:spPr>
          <a:xfrm>
            <a:off x="3114675" y="594360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5"/>
          <p:cNvSpPr txBox="1">
            <a:spLocks noGrp="1"/>
          </p:cNvSpPr>
          <p:nvPr>
            <p:ph type="sldNum" idx="12"/>
          </p:nvPr>
        </p:nvSpPr>
        <p:spPr>
          <a:xfrm>
            <a:off x="7534275" y="5943600"/>
            <a:ext cx="4667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37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7"/>
          <p:cNvSpPr txBox="1">
            <a:spLocks noGrp="1"/>
          </p:cNvSpPr>
          <p:nvPr>
            <p:ph type="sldNum" idx="12"/>
          </p:nvPr>
        </p:nvSpPr>
        <p:spPr>
          <a:xfrm>
            <a:off x="7564582" y="6324600"/>
            <a:ext cx="51261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9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39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39"/>
          <p:cNvSpPr txBox="1">
            <a:spLocks noGrp="1"/>
          </p:cNvSpPr>
          <p:nvPr>
            <p:ph type="sldNum" idx="12"/>
          </p:nvPr>
        </p:nvSpPr>
        <p:spPr>
          <a:xfrm>
            <a:off x="7655266" y="6264275"/>
            <a:ext cx="49813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1"/>
          <p:cNvSpPr txBox="1">
            <a:spLocks noGrp="1"/>
          </p:cNvSpPr>
          <p:nvPr>
            <p:ph type="title"/>
          </p:nvPr>
        </p:nvSpPr>
        <p:spPr>
          <a:xfrm>
            <a:off x="457200" y="3048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9" name="Google Shape;59;p41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6172200" y="6264275"/>
            <a:ext cx="1905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457200" y="533400"/>
            <a:ext cx="3008313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7" name="Google Shape;67;p42"/>
          <p:cNvSpPr txBox="1">
            <a:spLocks noGrp="1"/>
          </p:cNvSpPr>
          <p:nvPr>
            <p:ph type="body" idx="1"/>
          </p:nvPr>
        </p:nvSpPr>
        <p:spPr>
          <a:xfrm>
            <a:off x="3575050" y="533401"/>
            <a:ext cx="5111750" cy="54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42"/>
          <p:cNvSpPr txBox="1">
            <a:spLocks noGrp="1"/>
          </p:cNvSpPr>
          <p:nvPr>
            <p:ph type="body" idx="2"/>
          </p:nvPr>
        </p:nvSpPr>
        <p:spPr>
          <a:xfrm>
            <a:off x="457200" y="1676400"/>
            <a:ext cx="3008313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1792288" y="46482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4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3959225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43"/>
          <p:cNvSpPr txBox="1">
            <a:spLocks noGrp="1"/>
          </p:cNvSpPr>
          <p:nvPr>
            <p:ph type="body" idx="1"/>
          </p:nvPr>
        </p:nvSpPr>
        <p:spPr>
          <a:xfrm>
            <a:off x="1792288" y="5214938"/>
            <a:ext cx="5486400" cy="728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43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4"/>
          <p:cNvSpPr txBox="1">
            <a:spLocks noGrp="1"/>
          </p:cNvSpPr>
          <p:nvPr>
            <p:ph type="title"/>
          </p:nvPr>
        </p:nvSpPr>
        <p:spPr>
          <a:xfrm>
            <a:off x="457200" y="2286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body" idx="1"/>
          </p:nvPr>
        </p:nvSpPr>
        <p:spPr>
          <a:xfrm rot="5400000">
            <a:off x="2286000" y="-457200"/>
            <a:ext cx="45720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44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45"/>
          <p:cNvSpPr txBox="1">
            <a:spLocks noGrp="1"/>
          </p:cNvSpPr>
          <p:nvPr>
            <p:ph type="title"/>
          </p:nvPr>
        </p:nvSpPr>
        <p:spPr>
          <a:xfrm rot="5400000">
            <a:off x="4953000" y="2209801"/>
            <a:ext cx="54102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45"/>
          <p:cNvSpPr txBox="1">
            <a:spLocks noGrp="1"/>
          </p:cNvSpPr>
          <p:nvPr>
            <p:ph type="body" idx="1"/>
          </p:nvPr>
        </p:nvSpPr>
        <p:spPr>
          <a:xfrm rot="5400000">
            <a:off x="762000" y="228601"/>
            <a:ext cx="5410201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45"/>
          <p:cNvSpPr txBox="1">
            <a:spLocks noGrp="1"/>
          </p:cNvSpPr>
          <p:nvPr>
            <p:ph type="dt" idx="10"/>
          </p:nvPr>
        </p:nvSpPr>
        <p:spPr>
          <a:xfrm>
            <a:off x="447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9" name="Google Shape;89;p45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45"/>
          <p:cNvSpPr txBox="1">
            <a:spLocks noGrp="1"/>
          </p:cNvSpPr>
          <p:nvPr>
            <p:ph type="sldNum" idx="12"/>
          </p:nvPr>
        </p:nvSpPr>
        <p:spPr>
          <a:xfrm>
            <a:off x="6543675" y="609600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6"/>
          <p:cNvSpPr/>
          <p:nvPr/>
        </p:nvSpPr>
        <p:spPr>
          <a:xfrm>
            <a:off x="447675" y="152400"/>
            <a:ext cx="3314700" cy="21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" name="Google Shape;32;p36" descr="UW.Wordmark_ctr.jp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" name="Google Shape;33;p36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34" name="Google Shape;34;p36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5" name="Google Shape;35;p36" descr="UW_W-Logo_RGB.pn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" name="Google Shape;36;p36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3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36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36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6"/>
          <p:cNvSpPr txBox="1">
            <a:spLocks noGrp="1"/>
          </p:cNvSpPr>
          <p:nvPr>
            <p:ph type="sldNum" idx="12"/>
          </p:nvPr>
        </p:nvSpPr>
        <p:spPr>
          <a:xfrm>
            <a:off x="7543801" y="6248400"/>
            <a:ext cx="533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82590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4"/>
          <p:cNvSpPr txBox="1">
            <a:spLocks noGrp="1"/>
          </p:cNvSpPr>
          <p:nvPr>
            <p:ph type="ftr" idx="11"/>
          </p:nvPr>
        </p:nvSpPr>
        <p:spPr>
          <a:xfrm>
            <a:off x="3114675" y="6264275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grpSp>
        <p:nvGrpSpPr>
          <p:cNvPr id="11" name="Google Shape;11;p34"/>
          <p:cNvGrpSpPr/>
          <p:nvPr/>
        </p:nvGrpSpPr>
        <p:grpSpPr>
          <a:xfrm>
            <a:off x="8167688" y="6348413"/>
            <a:ext cx="595312" cy="400050"/>
            <a:chOff x="8045450" y="6222997"/>
            <a:chExt cx="745067" cy="500464"/>
          </a:xfrm>
        </p:grpSpPr>
        <p:sp>
          <p:nvSpPr>
            <p:cNvPr id="12" name="Google Shape;12;p34"/>
            <p:cNvSpPr/>
            <p:nvPr/>
          </p:nvSpPr>
          <p:spPr>
            <a:xfrm rot="10800000" flipH="1">
              <a:off x="8045450" y="6222997"/>
              <a:ext cx="733146" cy="494505"/>
            </a:xfrm>
            <a:prstGeom prst="trapezoid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13;p34" descr="UW_W-Logo_RGB.png"/>
            <p:cNvPicPr preferRelativeResize="0"/>
            <p:nvPr/>
          </p:nvPicPr>
          <p:blipFill rotWithShape="1">
            <a:blip r:embed="rId11">
              <a:alphaModFix/>
            </a:blip>
            <a:srcRect/>
            <a:stretch/>
          </p:blipFill>
          <p:spPr>
            <a:xfrm>
              <a:off x="8047567" y="6223002"/>
              <a:ext cx="742950" cy="50045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" name="Google Shape;14;p34"/>
          <p:cNvSpPr/>
          <p:nvPr/>
        </p:nvSpPr>
        <p:spPr>
          <a:xfrm>
            <a:off x="228600" y="254000"/>
            <a:ext cx="8686800" cy="6418263"/>
          </a:xfrm>
          <a:prstGeom prst="rect">
            <a:avLst/>
          </a:prstGeom>
          <a:noFill/>
          <a:ln w="22225" cap="flat" cmpd="sng">
            <a:solidFill>
              <a:srgbClr val="3B185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" name="Google Shape;15;p34" descr="UW.Wordmark_ctr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98475" y="152400"/>
            <a:ext cx="3213100" cy="21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3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96863" y="5962650"/>
            <a:ext cx="998537" cy="819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4"/>
          <p:cNvSpPr txBox="1">
            <a:spLocks noGrp="1"/>
          </p:cNvSpPr>
          <p:nvPr>
            <p:ph type="sldNum" idx="12"/>
          </p:nvPr>
        </p:nvSpPr>
        <p:spPr>
          <a:xfrm>
            <a:off x="6543675" y="6248400"/>
            <a:ext cx="13811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8" Type="http://schemas.openxmlformats.org/officeDocument/2006/relationships/image" Target="../media/image12.png"/><Relationship Id="rId21" Type="http://schemas.openxmlformats.org/officeDocument/2006/relationships/image" Target="../media/image15.png"/><Relationship Id="rId12" Type="http://schemas.openxmlformats.org/officeDocument/2006/relationships/image" Target="../media/image10.png"/><Relationship Id="rId1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9.png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24" Type="http://schemas.openxmlformats.org/officeDocument/2006/relationships/image" Target="../media/image18.png"/><Relationship Id="rId15" Type="http://schemas.openxmlformats.org/officeDocument/2006/relationships/image" Target="../media/image8.png"/><Relationship Id="rId23" Type="http://schemas.openxmlformats.org/officeDocument/2006/relationships/image" Target="../media/image17.png"/><Relationship Id="rId19" Type="http://schemas.openxmlformats.org/officeDocument/2006/relationships/image" Target="../media/image13.png"/><Relationship Id="rId14" Type="http://schemas.openxmlformats.org/officeDocument/2006/relationships/image" Target="../media/image7.png"/><Relationship Id="rId22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110.png"/><Relationship Id="rId3" Type="http://schemas.openxmlformats.org/officeDocument/2006/relationships/image" Target="../media/image6.png"/><Relationship Id="rId7" Type="http://schemas.openxmlformats.org/officeDocument/2006/relationships/image" Target="../media/image161.pn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11" Type="http://schemas.openxmlformats.org/officeDocument/2006/relationships/image" Target="../media/image13.png"/><Relationship Id="rId10" Type="http://schemas.openxmlformats.org/officeDocument/2006/relationships/image" Target="../media/image12.png"/><Relationship Id="rId9" Type="http://schemas.openxmlformats.org/officeDocument/2006/relationships/image" Target="../media/image8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21.png"/><Relationship Id="rId3" Type="http://schemas.openxmlformats.org/officeDocument/2006/relationships/image" Target="../media/image6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5.png"/><Relationship Id="rId5" Type="http://schemas.openxmlformats.org/officeDocument/2006/relationships/image" Target="../media/image20.png"/><Relationship Id="rId10" Type="http://schemas.openxmlformats.org/officeDocument/2006/relationships/image" Target="../media/image14.png"/><Relationship Id="rId4" Type="http://schemas.openxmlformats.org/officeDocument/2006/relationships/image" Target="../media/image7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.png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33.png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7.png"/><Relationship Id="rId7" Type="http://schemas.openxmlformats.org/officeDocument/2006/relationships/image" Target="../media/image34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43.png"/><Relationship Id="rId7" Type="http://schemas.openxmlformats.org/officeDocument/2006/relationships/image" Target="../media/image4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6.png"/><Relationship Id="rId18" Type="http://schemas.openxmlformats.org/officeDocument/2006/relationships/image" Target="../media/image54.png"/><Relationship Id="rId3" Type="http://schemas.openxmlformats.org/officeDocument/2006/relationships/image" Target="../media/image49.png"/><Relationship Id="rId7" Type="http://schemas.openxmlformats.org/officeDocument/2006/relationships/image" Target="../media/image41.png"/><Relationship Id="rId12" Type="http://schemas.openxmlformats.org/officeDocument/2006/relationships/image" Target="../media/image58.png"/><Relationship Id="rId17" Type="http://schemas.openxmlformats.org/officeDocument/2006/relationships/image" Target="../media/image53.png"/><Relationship Id="rId2" Type="http://schemas.openxmlformats.org/officeDocument/2006/relationships/image" Target="../media/image48.png"/><Relationship Id="rId16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11" Type="http://schemas.openxmlformats.org/officeDocument/2006/relationships/image" Target="../media/image57.png"/><Relationship Id="rId5" Type="http://schemas.openxmlformats.org/officeDocument/2006/relationships/image" Target="../media/image51.png"/><Relationship Id="rId15" Type="http://schemas.openxmlformats.org/officeDocument/2006/relationships/image" Target="../media/image61.png"/><Relationship Id="rId10" Type="http://schemas.openxmlformats.org/officeDocument/2006/relationships/image" Target="../media/image56.png"/><Relationship Id="rId19" Type="http://schemas.openxmlformats.org/officeDocument/2006/relationships/image" Target="../media/image28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60.png"/><Relationship Id="rId7" Type="http://schemas.openxmlformats.org/officeDocument/2006/relationships/image" Target="../media/image6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image" Target="../media/image3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>
            <a:spLocks noGrp="1"/>
          </p:cNvSpPr>
          <p:nvPr>
            <p:ph type="ctrTitle"/>
          </p:nvPr>
        </p:nvSpPr>
        <p:spPr>
          <a:xfrm>
            <a:off x="381000" y="517216"/>
            <a:ext cx="8458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/>
              <a:t>BIOE 498 / BIOE 599 </a:t>
            </a:r>
            <a:br>
              <a:rPr lang="en-US" sz="3200" b="1" dirty="0"/>
            </a:br>
            <a:r>
              <a:rPr lang="en-US" sz="3200" b="1" i="1" dirty="0"/>
              <a:t>Advanced Biological Control Systems</a:t>
            </a:r>
            <a:br>
              <a:rPr lang="en-US" sz="3200" b="1" dirty="0"/>
            </a:br>
            <a:br>
              <a:rPr lang="en-US" sz="3200" b="1" dirty="0"/>
            </a:br>
            <a:br>
              <a:rPr lang="en-US" sz="3200" b="1" dirty="0"/>
            </a:br>
            <a:r>
              <a:rPr lang="en-US" sz="3200" b="1" dirty="0"/>
              <a:t>Lecture 2: </a:t>
            </a:r>
            <a:r>
              <a:rPr lang="en-US" sz="3200" b="1" u="sng" dirty="0"/>
              <a:t>Elements of Closed Loop Systems</a:t>
            </a:r>
            <a:br>
              <a:rPr lang="en-US" b="1" dirty="0"/>
            </a:br>
            <a:br>
              <a:rPr lang="en-US" b="1" dirty="0"/>
            </a:br>
            <a:endParaRPr i="1" dirty="0"/>
          </a:p>
        </p:txBody>
      </p:sp>
      <p:sp>
        <p:nvSpPr>
          <p:cNvPr id="97" name="Google Shape;97;p1"/>
          <p:cNvSpPr txBox="1">
            <a:spLocks noGrp="1"/>
          </p:cNvSpPr>
          <p:nvPr>
            <p:ph type="subTitle" idx="1"/>
          </p:nvPr>
        </p:nvSpPr>
        <p:spPr>
          <a:xfrm>
            <a:off x="381000" y="3611071"/>
            <a:ext cx="8382000" cy="22394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dirty="0"/>
              <a:t>Joseph L. Hellerstein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None/>
            </a:pPr>
            <a:r>
              <a:rPr lang="en-US" dirty="0"/>
              <a:t>January 8, 2025</a:t>
            </a:r>
            <a:endParaRPr dirty="0"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eScience Institute, Computer Science &amp; Engineering</a:t>
            </a:r>
            <a:endParaRPr dirty="0"/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/>
              <a:t>Allen School of Computer Science</a:t>
            </a: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</a:pPr>
            <a:r>
              <a:rPr lang="en-US" sz="2800" dirty="0" err="1"/>
              <a:t>BioEngineering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457200" y="381000"/>
            <a:ext cx="82296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03" name="Google Shape;103;p2"/>
          <p:cNvSpPr txBox="1">
            <a:spLocks noGrp="1"/>
          </p:cNvSpPr>
          <p:nvPr>
            <p:ph type="body" idx="1"/>
          </p:nvPr>
        </p:nvSpPr>
        <p:spPr>
          <a:xfrm>
            <a:off x="457200" y="1371599"/>
            <a:ext cx="8229600" cy="4572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Terminology</a:t>
            </a:r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Controllers</a:t>
            </a:r>
            <a:endParaRPr dirty="0"/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Filters</a:t>
            </a:r>
          </a:p>
          <a:p>
            <a:pPr marL="342900" lvl="0" indent="-3429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dirty="0"/>
              <a:t>Testbed-based control design</a:t>
            </a:r>
            <a:endParaRPr dirty="0"/>
          </a:p>
        </p:txBody>
      </p:sp>
      <p:sp>
        <p:nvSpPr>
          <p:cNvPr id="104" name="Google Shape;104;p2"/>
          <p:cNvSpPr txBox="1">
            <a:spLocks noGrp="1"/>
          </p:cNvSpPr>
          <p:nvPr>
            <p:ph type="sldNum" idx="12"/>
          </p:nvPr>
        </p:nvSpPr>
        <p:spPr>
          <a:xfrm>
            <a:off x="7620000" y="6248400"/>
            <a:ext cx="30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26C88-9C49-EB1B-EE93-6861D5C9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Signals &amp; Systems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7F2ADB-E2AE-ABC1-9D5A-955C810C1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Signal</a:t>
            </a:r>
          </a:p>
          <a:p>
            <a:pPr lvl="1"/>
            <a:r>
              <a:rPr lang="en-US" dirty="0"/>
              <a:t>a time series</a:t>
            </a:r>
          </a:p>
          <a:p>
            <a:pPr marL="508000" lvl="1" indent="0">
              <a:buNone/>
            </a:pPr>
            <a:endParaRPr lang="en-US" b="0" dirty="0"/>
          </a:p>
          <a:p>
            <a:r>
              <a:rPr lang="en-US" dirty="0"/>
              <a:t>System</a:t>
            </a:r>
          </a:p>
          <a:p>
            <a:pPr lvl="1"/>
            <a:r>
              <a:rPr lang="en-US" dirty="0"/>
              <a:t>Transforms one signal(s) into another signal(s)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74924-D723-C629-6A0A-0BD73CB5384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BAB0D5C-5520-2511-29F0-252F1D6F57E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114099" y="419494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ABAB0D5C-5520-2511-29F0-252F1D6F57E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52421549"/>
                  </p:ext>
                </p:extLst>
              </p:nvPr>
            </p:nvGraphicFramePr>
            <p:xfrm>
              <a:off x="1114099" y="419494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041" t="-3448" r="-104082" b="-4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02041" t="-3448" r="-4082" b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09E7B77-C11D-256C-4E73-010AFA80D5C4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6222121" y="4126189"/>
              <a:ext cx="1229710" cy="19917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50834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b="0" dirty="0"/>
                            <a:t>y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oMath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5">
                <a:extLst>
                  <a:ext uri="{FF2B5EF4-FFF2-40B4-BE49-F238E27FC236}">
                    <a16:creationId xmlns:a16="http://schemas.microsoft.com/office/drawing/2014/main" id="{109E7B77-C11D-256C-4E73-010AFA80D5C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15243076"/>
                  </p:ext>
                </p:extLst>
              </p:nvPr>
            </p:nvGraphicFramePr>
            <p:xfrm>
              <a:off x="6222121" y="4126189"/>
              <a:ext cx="1229710" cy="1991709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5083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r="-104082" b="-2975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"/>
                          <a:stretch>
                            <a:fillRect l="-100000" r="-4082" b="-2975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57B2A04B-E80A-7D73-95CA-644A1AEDB3D0}"/>
              </a:ext>
            </a:extLst>
          </p:cNvPr>
          <p:cNvSpPr>
            <a:spLocks noChangeAspect="1"/>
          </p:cNvSpPr>
          <p:nvPr/>
        </p:nvSpPr>
        <p:spPr>
          <a:xfrm>
            <a:off x="2854969" y="4804569"/>
            <a:ext cx="2831128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D4563-A161-2F03-6AB9-6B54B713AC87}"/>
                  </a:ext>
                </a:extLst>
              </p:cNvPr>
              <p:cNvSpPr txBox="1"/>
              <p:nvPr/>
            </p:nvSpPr>
            <p:spPr>
              <a:xfrm>
                <a:off x="2982353" y="4968155"/>
                <a:ext cx="255659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−1)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CBD4563-A161-2F03-6AB9-6B54B713AC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353" y="4968155"/>
                <a:ext cx="2556597" cy="307777"/>
              </a:xfrm>
              <a:prstGeom prst="rect">
                <a:avLst/>
              </a:prstGeom>
              <a:blipFill>
                <a:blip r:embed="rId5"/>
                <a:stretch>
                  <a:fillRect l="-1478" r="-2463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E485F07-FF62-0BD1-1B94-B1513A3C6A38}"/>
              </a:ext>
            </a:extLst>
          </p:cNvPr>
          <p:cNvCxnSpPr>
            <a:cxnSpLocks/>
          </p:cNvCxnSpPr>
          <p:nvPr/>
        </p:nvCxnSpPr>
        <p:spPr>
          <a:xfrm>
            <a:off x="2343809" y="5116802"/>
            <a:ext cx="511160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F3F2885B-3C49-BD11-A23F-5542ED6239E8}"/>
              </a:ext>
            </a:extLst>
          </p:cNvPr>
          <p:cNvCxnSpPr>
            <a:cxnSpLocks/>
          </p:cNvCxnSpPr>
          <p:nvPr/>
        </p:nvCxnSpPr>
        <p:spPr>
          <a:xfrm flipV="1">
            <a:off x="5686097" y="5119210"/>
            <a:ext cx="536024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8" name="Table 5">
                <a:extLst>
                  <a:ext uri="{FF2B5EF4-FFF2-40B4-BE49-F238E27FC236}">
                    <a16:creationId xmlns:a16="http://schemas.microsoft.com/office/drawing/2014/main" id="{7E0EA260-4F78-8D68-0246-942B78816DAC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4598268" y="130986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𝒕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8" name="Table 5">
                <a:extLst>
                  <a:ext uri="{FF2B5EF4-FFF2-40B4-BE49-F238E27FC236}">
                    <a16:creationId xmlns:a16="http://schemas.microsoft.com/office/drawing/2014/main" id="{7E0EA260-4F78-8D68-0246-942B78816DA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385819"/>
                  </p:ext>
                </p:extLst>
              </p:nvPr>
            </p:nvGraphicFramePr>
            <p:xfrm>
              <a:off x="4598268" y="1309863"/>
              <a:ext cx="1229710" cy="1854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14855">
                      <a:extLst>
                        <a:ext uri="{9D8B030D-6E8A-4147-A177-3AD203B41FA5}">
                          <a16:colId xmlns:a16="http://schemas.microsoft.com/office/drawing/2014/main" val="2589370719"/>
                        </a:ext>
                      </a:extLst>
                    </a:gridCol>
                    <a:gridCol w="614855">
                      <a:extLst>
                        <a:ext uri="{9D8B030D-6E8A-4147-A177-3AD203B41FA5}">
                          <a16:colId xmlns:a16="http://schemas.microsoft.com/office/drawing/2014/main" val="237169328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2041" t="-3448" r="-104082" b="-4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6"/>
                          <a:stretch>
                            <a:fillRect l="-104167" t="-3448" r="-6250" b="-41034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89617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2739042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940797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0.8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56333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687926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519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4</a:t>
            </a:fld>
            <a:endParaRPr lang="en-US" altLang="x-non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DB1B42CF-51D4-794F-631B-9D28E05C1EA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7675" y="3361059"/>
                <a:ext cx="4355553" cy="312682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/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25400"/>
                <a:r>
                  <a:rPr lang="en-US" sz="2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Signals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reference input</a:t>
                </a:r>
              </a:p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control error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measured output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filtered output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Actuator disturbance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: Measurement Noise</a:t>
                </a:r>
              </a:p>
              <a:p>
                <a:pPr marL="25400"/>
                <a:endParaRPr lang="en-US" sz="2400" dirty="0"/>
              </a:p>
              <a:p>
                <a:endParaRPr lang="en-US" sz="2400" i="1" dirty="0"/>
              </a:p>
              <a:p>
                <a:endParaRPr lang="en-US" sz="2400" i="1" dirty="0"/>
              </a:p>
            </p:txBody>
          </p:sp>
        </mc:Choice>
        <mc:Fallback xmlns="">
          <p:sp>
            <p:nvSpPr>
              <p:cNvPr id="10" name="Text Placeholder 4">
                <a:extLst>
                  <a:ext uri="{FF2B5EF4-FFF2-40B4-BE49-F238E27FC236}">
                    <a16:creationId xmlns:a16="http://schemas.microsoft.com/office/drawing/2014/main" id="{DB1B42CF-51D4-794F-631B-9D28E05C1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675" y="3361059"/>
                <a:ext cx="4355553" cy="3126829"/>
              </a:xfrm>
              <a:prstGeom prst="rect">
                <a:avLst/>
              </a:prstGeom>
              <a:blipFill>
                <a:blip r:embed="rId12"/>
                <a:stretch>
                  <a:fillRect l="-1744" t="-1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915CA75-DCDD-5876-379A-7EA9B42197B3}"/>
              </a:ext>
            </a:extLst>
          </p:cNvPr>
          <p:cNvSpPr txBox="1">
            <a:spLocks/>
          </p:cNvSpPr>
          <p:nvPr/>
        </p:nvSpPr>
        <p:spPr>
          <a:xfrm>
            <a:off x="4559354" y="3410116"/>
            <a:ext cx="4355553" cy="1614228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5400"/>
            <a:r>
              <a:rPr lang="en-US" sz="2400" b="1" dirty="0"/>
              <a:t>Systems</a:t>
            </a:r>
          </a:p>
          <a:p>
            <a:r>
              <a:rPr lang="en-US" sz="2400" dirty="0"/>
              <a:t>Open loop system (OLS)</a:t>
            </a:r>
          </a:p>
          <a:p>
            <a:r>
              <a:rPr lang="en-US" sz="2400" dirty="0"/>
              <a:t>Controller</a:t>
            </a:r>
          </a:p>
          <a:p>
            <a:r>
              <a:rPr lang="en-US" sz="2400" dirty="0"/>
              <a:t>Filter</a:t>
            </a:r>
          </a:p>
          <a:p>
            <a:r>
              <a:rPr lang="en-US" sz="2400" dirty="0"/>
              <a:t>C (compensation)</a:t>
            </a:r>
          </a:p>
          <a:p>
            <a:pPr marL="25400"/>
            <a:endParaRPr lang="en-US" sz="2400" dirty="0"/>
          </a:p>
          <a:p>
            <a:endParaRPr lang="en-US" sz="2400" i="1" dirty="0"/>
          </a:p>
          <a:p>
            <a:endParaRPr lang="en-US" sz="2400" i="1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C23B32-D62A-C04A-214A-79DBE89FB1C6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817161-F6C2-10BD-EA28-3AA011F4B961}"/>
              </a:ext>
            </a:extLst>
          </p:cNvPr>
          <p:cNvCxnSpPr>
            <a:cxnSpLocks/>
            <a:stCxn id="15" idx="3"/>
            <a:endCxn id="31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CEA7EB2-8F30-F033-E0F2-141F4BB900B4}"/>
              </a:ext>
            </a:extLst>
          </p:cNvPr>
          <p:cNvCxnSpPr>
            <a:cxnSpLocks/>
            <a:stCxn id="9" idx="3"/>
            <a:endCxn id="25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677E7F6-EFB1-E943-CF95-DC0899439E63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F677E7F6-EFB1-E943-CF95-DC0899439E6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>
            <a:extLst>
              <a:ext uri="{FF2B5EF4-FFF2-40B4-BE49-F238E27FC236}">
                <a16:creationId xmlns:a16="http://schemas.microsoft.com/office/drawing/2014/main" id="{44180FAF-42F8-1299-2EF7-B7553B1809D7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C366826-D4B0-8532-9150-3B2F82582CC4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6250D818-892B-A042-39F7-594AA34315A6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E1F27411-A8C2-FE27-A4A4-1CD60016DB5F}"/>
              </a:ext>
            </a:extLst>
          </p:cNvPr>
          <p:cNvCxnSpPr>
            <a:cxnSpLocks/>
            <a:stCxn id="29" idx="1"/>
            <a:endCxn id="17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5DAA9C90-1624-BAF3-2342-BAB665486D50}"/>
              </a:ext>
            </a:extLst>
          </p:cNvPr>
          <p:cNvCxnSpPr>
            <a:cxnSpLocks/>
            <a:stCxn id="17" idx="6"/>
            <a:endCxn id="15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2FFF3-8587-C433-A057-55CD26AA8FD7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39E2FFF3-8587-C433-A057-55CD26AA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873880-EC06-6F77-D78B-7D62420E5F90}"/>
                  </a:ext>
                </a:extLst>
              </p:cNvPr>
              <p:cNvSpPr/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C873880-EC06-6F77-D78B-7D62420E5F9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  <a:blipFill>
                <a:blip r:embed="rId15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B1AE68-104B-C666-DCA0-14EBCA272764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2B1AE68-104B-C666-DCA0-14EBCA272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16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8ABBB88-1557-5215-1487-0836ED59A9EA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08ABBB88-1557-5215-1487-0836ED59A9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1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0A7211-9722-2F94-DD0A-FB3B8223ADBE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4E0A7211-9722-2F94-DD0A-FB3B8223AD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1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val 24">
            <a:extLst>
              <a:ext uri="{FF2B5EF4-FFF2-40B4-BE49-F238E27FC236}">
                <a16:creationId xmlns:a16="http://schemas.microsoft.com/office/drawing/2014/main" id="{060514DA-D43B-5988-FBA9-31C5AB187A54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637CB88-F3E6-C981-8400-1AC40F11AE06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B29422-1808-FE4A-5325-AC6DA27F68DB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3501747-714E-C2E8-5647-E3EBA119BB10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64C26D7-0AFF-6AD3-C386-D9BD17C4C15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64C26D7-0AFF-6AD3-C386-D9BD17C4C1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32FEC5B6-D1C0-1082-9D3B-DC86CEA9DF84}"/>
              </a:ext>
            </a:extLst>
          </p:cNvPr>
          <p:cNvCxnSpPr>
            <a:cxnSpLocks/>
            <a:stCxn id="25" idx="4"/>
            <a:endCxn id="29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6CFAC636-7587-3929-DDF0-147105EA6E7A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A739405-0B5F-5F28-1EC9-B61BA5AF57E3}"/>
              </a:ext>
            </a:extLst>
          </p:cNvPr>
          <p:cNvCxnSpPr>
            <a:cxnSpLocks/>
            <a:endCxn id="31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A17706A6-DFFE-F55F-E6D7-A17571E550A1}"/>
              </a:ext>
            </a:extLst>
          </p:cNvPr>
          <p:cNvCxnSpPr>
            <a:cxnSpLocks/>
            <a:stCxn id="31" idx="6"/>
            <a:endCxn id="6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1473D4-BB1D-932E-5208-7B98A048304E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2CE0764-180A-1616-C2C9-7D9B6579C5B6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22CE0764-180A-1616-C2C9-7D9B6579C5B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20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703D7B3-3154-7279-E6AF-1493299DA12C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703D7B3-3154-7279-E6AF-1493299DA1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21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3CF6DA8-0EC2-8F12-AAA4-9619CF0D57A1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3CF6DA8-0EC2-8F12-AAA4-9619CF0D57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22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B5E832E-8382-BA1A-B5A7-19FE4EDC5093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8B5E832E-8382-BA1A-B5A7-19FE4EDC50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23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C741502-B5B0-4AD4-FCA2-2C53A96B9C7C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8C741502-B5B0-4AD4-FCA2-2C53A96B9C7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24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5013CDB2-A293-4CB1-B926-2270E18EACAB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0325510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d(t), n(t)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5</a:t>
            </a:fld>
            <a:endParaRPr lang="en-US" altLang="x-none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D2C5CD7-5EF7-0149-A160-721F4F8BF5A1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3B85FA6-F565-A342-9B83-C988EFF8976A}"/>
              </a:ext>
            </a:extLst>
          </p:cNvPr>
          <p:cNvCxnSpPr>
            <a:cxnSpLocks/>
            <a:stCxn id="45" idx="3"/>
            <a:endCxn id="39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283C526-95FD-DD48-8D64-79DF32A3018A}"/>
              </a:ext>
            </a:extLst>
          </p:cNvPr>
          <p:cNvCxnSpPr>
            <a:cxnSpLocks/>
            <a:stCxn id="41" idx="3"/>
            <a:endCxn id="58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7D8735E-9031-3E41-B1B0-4871396BFB1A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87D8735E-9031-3E41-B1B0-4871396BFB1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Rectangle 44">
            <a:extLst>
              <a:ext uri="{FF2B5EF4-FFF2-40B4-BE49-F238E27FC236}">
                <a16:creationId xmlns:a16="http://schemas.microsoft.com/office/drawing/2014/main" id="{17F19C0A-4E6F-334D-BD24-1FC484764B18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8A7EBF1-5C9C-C245-A586-537F9E82050B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22932C7D-E4B3-5D47-A8D0-A906B69494C0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402BD592-75B2-8044-83BE-F469346766A9}"/>
              </a:ext>
            </a:extLst>
          </p:cNvPr>
          <p:cNvCxnSpPr>
            <a:cxnSpLocks/>
            <a:stCxn id="63" idx="1"/>
            <a:endCxn id="47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C1809476-AEC6-624A-8C82-8DFB0AE7A83E}"/>
              </a:ext>
            </a:extLst>
          </p:cNvPr>
          <p:cNvCxnSpPr>
            <a:cxnSpLocks/>
            <a:stCxn id="47" idx="6"/>
            <a:endCxn id="45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A686EE9-AD7B-D74A-85C7-2924607BBD8A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3A686EE9-AD7B-D74A-85C7-2924607BB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6"/>
                <a:stretch>
                  <a:fillRect r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C0CC0A4-47F0-7849-B0ED-5689BEABB267}"/>
                  </a:ext>
                </a:extLst>
              </p:cNvPr>
              <p:cNvSpPr/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Rectangle 50">
                <a:extLst>
                  <a:ext uri="{FF2B5EF4-FFF2-40B4-BE49-F238E27FC236}">
                    <a16:creationId xmlns:a16="http://schemas.microsoft.com/office/drawing/2014/main" id="{5C0CC0A4-47F0-7849-B0ED-5689BEABB26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601318" cy="338554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0E298F7-77E1-7343-9570-9854F41AA804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50E298F7-77E1-7343-9570-9854F41AA80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8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CE1576F-6AE3-594D-9BE2-58B9AB0EB921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7CE1576F-6AE3-594D-9BE2-58B9AB0EB92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9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F2E63ED-93E9-E543-AE7E-ECFC6DD54B4B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7" name="Rectangle 56">
                <a:extLst>
                  <a:ext uri="{FF2B5EF4-FFF2-40B4-BE49-F238E27FC236}">
                    <a16:creationId xmlns:a16="http://schemas.microsoft.com/office/drawing/2014/main" id="{AF2E63ED-93E9-E543-AE7E-ECFC6DD54B4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10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Oval 57">
            <a:extLst>
              <a:ext uri="{FF2B5EF4-FFF2-40B4-BE49-F238E27FC236}">
                <a16:creationId xmlns:a16="http://schemas.microsoft.com/office/drawing/2014/main" id="{663E4834-183D-824E-BFDF-4BEF73BB9D53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05D7142B-DF18-474D-A65D-D0A0FA353A05}"/>
              </a:ext>
            </a:extLst>
          </p:cNvPr>
          <p:cNvCxnSpPr>
            <a:cxnSpLocks/>
            <a:stCxn id="58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F10DC58C-B601-3447-9B9C-2D712DE9DBD3}"/>
              </a:ext>
            </a:extLst>
          </p:cNvPr>
          <p:cNvCxnSpPr>
            <a:cxnSpLocks/>
            <a:endCxn id="58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955F28CA-0D80-7F41-B904-D08DF710C879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336909E-06B1-E34C-AB3F-E36742C449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1336909E-06B1-E34C-AB3F-E36742C449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320150CC-EEFB-1346-9D45-02D18A784683}"/>
              </a:ext>
            </a:extLst>
          </p:cNvPr>
          <p:cNvCxnSpPr>
            <a:cxnSpLocks/>
            <a:stCxn id="58" idx="4"/>
            <a:endCxn id="63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B6A1B2E7-444B-6A49-B9CD-668F07436162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EBFEDE4-991B-D94A-9CCE-E193CF98303D}"/>
              </a:ext>
            </a:extLst>
          </p:cNvPr>
          <p:cNvCxnSpPr>
            <a:cxnSpLocks/>
            <a:endCxn id="39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272488-9AD6-D44F-9EF7-9D98E159A8C9}"/>
              </a:ext>
            </a:extLst>
          </p:cNvPr>
          <p:cNvCxnSpPr>
            <a:cxnSpLocks/>
            <a:stCxn id="39" idx="6"/>
            <a:endCxn id="1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151D055-3E6E-A549-BE53-07794808ACF7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2DA671-7A13-694B-DE37-8A8DBB480BCA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132DA671-7A13-694B-DE37-8A8DBB480B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13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0B7366-8621-31DA-C3E1-F93A2B2B589C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D0B7366-8621-31DA-C3E1-F93A2B2B589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14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DC3E98-9B36-2B13-9648-90DA577B05C7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ADC3E98-9B36-2B13-9648-90DA577B05C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7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46D725-8AC2-71DF-8879-BA64DA7B8BB5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46D725-8AC2-71DF-8879-BA64DA7B8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16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8A90C-B735-6465-7D98-508C16CDF2C6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008A90C-B735-6465-7D98-508C16CDF2C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1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angle 9">
            <a:extLst>
              <a:ext uri="{FF2B5EF4-FFF2-40B4-BE49-F238E27FC236}">
                <a16:creationId xmlns:a16="http://schemas.microsoft.com/office/drawing/2014/main" id="{954892B8-B0B2-723E-99C2-D64838942974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57339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r(t), d(t)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6</a:t>
            </a:fld>
            <a:endParaRPr lang="en-US" altLang="x-non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C081882-D455-3B3F-4CA6-EF39C653D10D}"/>
              </a:ext>
            </a:extLst>
          </p:cNvPr>
          <p:cNvSpPr>
            <a:spLocks noChangeAspect="1"/>
          </p:cNvSpPr>
          <p:nvPr/>
        </p:nvSpPr>
        <p:spPr>
          <a:xfrm>
            <a:off x="4672273" y="1918675"/>
            <a:ext cx="505982" cy="634949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02D91-09D1-1178-62BD-1B740A95FB00}"/>
              </a:ext>
            </a:extLst>
          </p:cNvPr>
          <p:cNvCxnSpPr>
            <a:cxnSpLocks/>
            <a:stCxn id="13" idx="3"/>
            <a:endCxn id="29" idx="2"/>
          </p:cNvCxnSpPr>
          <p:nvPr/>
        </p:nvCxnSpPr>
        <p:spPr>
          <a:xfrm>
            <a:off x="3008157" y="2227603"/>
            <a:ext cx="716434" cy="10089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036680-8B68-78F8-42C1-CA79DB1402E3}"/>
              </a:ext>
            </a:extLst>
          </p:cNvPr>
          <p:cNvCxnSpPr>
            <a:cxnSpLocks/>
            <a:stCxn id="9" idx="3"/>
            <a:endCxn id="23" idx="2"/>
          </p:cNvCxnSpPr>
          <p:nvPr/>
        </p:nvCxnSpPr>
        <p:spPr>
          <a:xfrm flipV="1">
            <a:off x="5178255" y="2234098"/>
            <a:ext cx="401262" cy="2052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330FB3-A1EE-8B25-05B0-CC77B290AE74}"/>
                  </a:ext>
                </a:extLst>
              </p:cNvPr>
              <p:cNvSpPr/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𝑶𝑳𝑺</m:t>
                      </m:r>
                    </m:oMath>
                  </m:oMathPara>
                </a14:m>
                <a:endParaRPr lang="en-US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2C330FB3-A1EE-8B25-05B0-CC77B290AE7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4563" y="2008826"/>
                <a:ext cx="712054" cy="307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866EDAD-F8C5-A727-6EC9-ACD412EA71F0}"/>
              </a:ext>
            </a:extLst>
          </p:cNvPr>
          <p:cNvSpPr>
            <a:spLocks noChangeAspect="1"/>
          </p:cNvSpPr>
          <p:nvPr/>
        </p:nvSpPr>
        <p:spPr>
          <a:xfrm>
            <a:off x="1886266" y="1910128"/>
            <a:ext cx="1121891" cy="63495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E3CB-E9ED-DE25-BD04-B502F8650803}"/>
              </a:ext>
            </a:extLst>
          </p:cNvPr>
          <p:cNvCxnSpPr>
            <a:cxnSpLocks/>
          </p:cNvCxnSpPr>
          <p:nvPr/>
        </p:nvCxnSpPr>
        <p:spPr>
          <a:xfrm flipV="1">
            <a:off x="530655" y="2258178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0AF0B01-A51A-CB0A-9C56-718AD675657E}"/>
              </a:ext>
            </a:extLst>
          </p:cNvPr>
          <p:cNvSpPr/>
          <p:nvPr/>
        </p:nvSpPr>
        <p:spPr>
          <a:xfrm>
            <a:off x="1194765" y="208505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482900F-9EF7-8413-2526-895B9A08DDF3}"/>
              </a:ext>
            </a:extLst>
          </p:cNvPr>
          <p:cNvCxnSpPr>
            <a:cxnSpLocks/>
            <a:stCxn id="27" idx="1"/>
            <a:endCxn id="15" idx="4"/>
          </p:cNvCxnSpPr>
          <p:nvPr/>
        </p:nvCxnSpPr>
        <p:spPr>
          <a:xfrm rot="10800000">
            <a:off x="1345687" y="2386895"/>
            <a:ext cx="1749875" cy="640451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008CAF-3B48-F950-82EF-E832521153B9}"/>
              </a:ext>
            </a:extLst>
          </p:cNvPr>
          <p:cNvCxnSpPr>
            <a:cxnSpLocks/>
            <a:stCxn id="15" idx="6"/>
            <a:endCxn id="13" idx="1"/>
          </p:cNvCxnSpPr>
          <p:nvPr/>
        </p:nvCxnSpPr>
        <p:spPr>
          <a:xfrm flipV="1">
            <a:off x="1496606" y="2227603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DEE86E2-2353-861A-D56C-94FBC6D94945}"/>
                  </a:ext>
                </a:extLst>
              </p:cNvPr>
              <p:cNvSpPr/>
              <p:nvPr/>
            </p:nvSpPr>
            <p:spPr>
              <a:xfrm>
                <a:off x="424342" y="1792306"/>
                <a:ext cx="555152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1600" b="0" dirty="0">
                    <a:solidFill>
                      <a:schemeClr val="tx1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2DEE86E2-2353-861A-D56C-94FBC6D94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342" y="1792306"/>
                <a:ext cx="555152" cy="338554"/>
              </a:xfrm>
              <a:prstGeom prst="rect">
                <a:avLst/>
              </a:prstGeom>
              <a:blipFill>
                <a:blip r:embed="rId5"/>
                <a:stretch>
                  <a:fillRect l="-6667"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771CCC-527E-6D04-02D0-38D394BCD3DC}"/>
                  </a:ext>
                </a:extLst>
              </p:cNvPr>
              <p:cNvSpPr/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CC771CCC-527E-6D04-02D0-38D394BCD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6563" y="1751442"/>
                <a:ext cx="606127" cy="338554"/>
              </a:xfrm>
              <a:prstGeom prst="rect">
                <a:avLst/>
              </a:prstGeom>
              <a:blipFill>
                <a:blip r:embed="rId6"/>
                <a:stretch>
                  <a:fillRect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0D21D2-560D-197E-7612-CE57AAE3FDFA}"/>
                  </a:ext>
                </a:extLst>
              </p:cNvPr>
              <p:cNvSpPr/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10D21D2-560D-197E-7612-CE57AAE3FDF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4285" y="1806656"/>
                <a:ext cx="716478" cy="338554"/>
              </a:xfrm>
              <a:prstGeom prst="rect">
                <a:avLst/>
              </a:prstGeom>
              <a:blipFill>
                <a:blip r:embed="rId7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62D41F-31CF-6DD0-4731-A9E6F946DC6A}"/>
                  </a:ext>
                </a:extLst>
              </p:cNvPr>
              <p:cNvSpPr/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1E62D41F-31CF-6DD0-4731-A9E6F946DC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597" y="1615242"/>
                <a:ext cx="716478" cy="338554"/>
              </a:xfrm>
              <a:prstGeom prst="rect">
                <a:avLst/>
              </a:prstGeom>
              <a:blipFill>
                <a:blip r:embed="rId8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C16BFE44-325B-3BDD-DDD7-CB6980E6FB23}"/>
              </a:ext>
            </a:extLst>
          </p:cNvPr>
          <p:cNvSpPr/>
          <p:nvPr/>
        </p:nvSpPr>
        <p:spPr>
          <a:xfrm>
            <a:off x="5579517" y="2083178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0A62C99-60D7-9F63-DAF8-B288E941B649}"/>
              </a:ext>
            </a:extLst>
          </p:cNvPr>
          <p:cNvCxnSpPr>
            <a:cxnSpLocks/>
            <a:stCxn id="23" idx="6"/>
          </p:cNvCxnSpPr>
          <p:nvPr/>
        </p:nvCxnSpPr>
        <p:spPr>
          <a:xfrm flipV="1">
            <a:off x="5881358" y="2225774"/>
            <a:ext cx="866283" cy="832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74BC7F4-339E-5861-B234-0D14D10B9A07}"/>
              </a:ext>
            </a:extLst>
          </p:cNvPr>
          <p:cNvCxnSpPr>
            <a:cxnSpLocks/>
            <a:endCxn id="23" idx="0"/>
          </p:cNvCxnSpPr>
          <p:nvPr/>
        </p:nvCxnSpPr>
        <p:spPr>
          <a:xfrm flipH="1">
            <a:off x="5730438" y="1525742"/>
            <a:ext cx="6358" cy="55743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36655F6-8BC0-F8C6-C243-A7D6EEB9F3F8}"/>
              </a:ext>
            </a:extLst>
          </p:cNvPr>
          <p:cNvSpPr txBox="1"/>
          <p:nvPr/>
        </p:nvSpPr>
        <p:spPr>
          <a:xfrm>
            <a:off x="5157126" y="963173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Measurement</a:t>
            </a:r>
          </a:p>
          <a:p>
            <a:pPr algn="ctr"/>
            <a:r>
              <a:rPr lang="en-US" sz="1400" b="1" dirty="0"/>
              <a:t>Noise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61" y="2709870"/>
                <a:ext cx="643565" cy="63494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DF9DBBE-87ED-0161-8BC4-9FC9515B0B10}"/>
              </a:ext>
            </a:extLst>
          </p:cNvPr>
          <p:cNvCxnSpPr>
            <a:cxnSpLocks/>
            <a:stCxn id="23" idx="4"/>
            <a:endCxn id="27" idx="3"/>
          </p:cNvCxnSpPr>
          <p:nvPr/>
        </p:nvCxnSpPr>
        <p:spPr>
          <a:xfrm rot="5400000">
            <a:off x="4413619" y="1710525"/>
            <a:ext cx="642327" cy="1991312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36830FFE-2655-B970-B447-84896BE3F97D}"/>
              </a:ext>
            </a:extLst>
          </p:cNvPr>
          <p:cNvSpPr/>
          <p:nvPr/>
        </p:nvSpPr>
        <p:spPr>
          <a:xfrm>
            <a:off x="3724591" y="2086772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BA62CDD-F047-21EC-413E-EEEC6E65C97C}"/>
              </a:ext>
            </a:extLst>
          </p:cNvPr>
          <p:cNvCxnSpPr>
            <a:cxnSpLocks/>
            <a:endCxn id="29" idx="0"/>
          </p:cNvCxnSpPr>
          <p:nvPr/>
        </p:nvCxnSpPr>
        <p:spPr>
          <a:xfrm flipH="1">
            <a:off x="3875512" y="1425382"/>
            <a:ext cx="4592" cy="66139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B3E4995-85B7-FE51-82DD-80B706D880F2}"/>
              </a:ext>
            </a:extLst>
          </p:cNvPr>
          <p:cNvCxnSpPr>
            <a:cxnSpLocks/>
            <a:stCxn id="29" idx="6"/>
            <a:endCxn id="40" idx="1"/>
          </p:cNvCxnSpPr>
          <p:nvPr/>
        </p:nvCxnSpPr>
        <p:spPr>
          <a:xfrm flipV="1">
            <a:off x="4026432" y="2236149"/>
            <a:ext cx="307809" cy="1543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E2C6D86-3B96-3CD0-D7CE-FF09FC24B945}"/>
              </a:ext>
            </a:extLst>
          </p:cNvPr>
          <p:cNvSpPr txBox="1"/>
          <p:nvPr/>
        </p:nvSpPr>
        <p:spPr>
          <a:xfrm>
            <a:off x="3090710" y="935162"/>
            <a:ext cx="133882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/>
              <a:t>Actuator</a:t>
            </a:r>
          </a:p>
          <a:p>
            <a:pPr algn="ctr"/>
            <a:r>
              <a:rPr lang="en-US" sz="1400" b="1" dirty="0"/>
              <a:t>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AEC609-031C-C5DC-1E1B-C930FB2876D4}"/>
                  </a:ext>
                </a:extLst>
              </p:cNvPr>
              <p:cNvSpPr/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i="1" dirty="0">
                    <a:solidFill>
                      <a:schemeClr val="tx1"/>
                    </a:solidFill>
                  </a:rPr>
                  <a:t>f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EDAEC609-031C-C5DC-1E1B-C930FB2876D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212" y="2694281"/>
                <a:ext cx="716478" cy="338554"/>
              </a:xfrm>
              <a:prstGeom prst="rect">
                <a:avLst/>
              </a:prstGeom>
              <a:blipFill>
                <a:blip r:embed="rId10"/>
                <a:stretch>
                  <a:fillRect l="-3509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9EC8F3-6924-0871-BC2D-766316467719}"/>
                  </a:ext>
                </a:extLst>
              </p:cNvPr>
              <p:cNvSpPr/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19EC8F3-6924-0871-BC2D-7663164677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293" y="1852855"/>
                <a:ext cx="716478" cy="338554"/>
              </a:xfrm>
              <a:prstGeom prst="rect">
                <a:avLst/>
              </a:prstGeom>
              <a:blipFill>
                <a:blip r:embed="rId11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27D28AF-B85D-5116-F4DF-010EC32D52AB}"/>
                  </a:ext>
                </a:extLst>
              </p:cNvPr>
              <p:cNvSpPr/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i="1" dirty="0">
                    <a:solidFill>
                      <a:schemeClr val="tx1"/>
                    </a:solidFill>
                  </a:rPr>
                  <a:t>m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E27D28AF-B85D-5116-F4DF-010EC32D52A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548" y="2526074"/>
                <a:ext cx="716478" cy="338554"/>
              </a:xfrm>
              <a:prstGeom prst="rect">
                <a:avLst/>
              </a:prstGeom>
              <a:blipFill>
                <a:blip r:embed="rId12"/>
                <a:stretch>
                  <a:fillRect l="-5263" t="-357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E0F9517-A930-2CBA-605C-060D78E85B43}"/>
                  </a:ext>
                </a:extLst>
              </p:cNvPr>
              <p:cNvSpPr/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b="0" dirty="0">
                    <a:solidFill>
                      <a:schemeClr val="tx1"/>
                    </a:solidFill>
                  </a:rPr>
                  <a:t>0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16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1E0F9517-A930-2CBA-605C-060D78E85B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0468" y="1465260"/>
                <a:ext cx="716478" cy="338554"/>
              </a:xfrm>
              <a:prstGeom prst="rect">
                <a:avLst/>
              </a:prstGeom>
              <a:blipFill>
                <a:blip r:embed="rId13"/>
                <a:stretch>
                  <a:fillRect l="-3448" t="-7143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635CE0-61CA-E3E2-544C-79C0861CBE06}"/>
                  </a:ext>
                </a:extLst>
              </p:cNvPr>
              <p:cNvSpPr/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16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DC635CE0-61CA-E3E2-544C-79C0861CBE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4805" y="1505189"/>
                <a:ext cx="716478" cy="338554"/>
              </a:xfrm>
              <a:prstGeom prst="rect">
                <a:avLst/>
              </a:prstGeom>
              <a:blipFill>
                <a:blip r:embed="rId14"/>
                <a:stretch>
                  <a:fillRect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 39">
            <a:extLst>
              <a:ext uri="{FF2B5EF4-FFF2-40B4-BE49-F238E27FC236}">
                <a16:creationId xmlns:a16="http://schemas.microsoft.com/office/drawing/2014/main" id="{579809EF-2565-F9DD-D489-854392E9B0DD}"/>
              </a:ext>
            </a:extLst>
          </p:cNvPr>
          <p:cNvSpPr>
            <a:spLocks noChangeAspect="1"/>
          </p:cNvSpPr>
          <p:nvPr/>
        </p:nvSpPr>
        <p:spPr>
          <a:xfrm>
            <a:off x="4334241" y="1918674"/>
            <a:ext cx="321220" cy="63494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12713496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11BA-8C43-DB43-9A58-7F630C618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Architecture Without </a:t>
            </a:r>
            <a:r>
              <a:rPr lang="en-US" i="1" dirty="0"/>
              <a:t>r(t), d(t)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0E0FF1-290E-6F42-9F42-6FFE9B7272B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E4304A7-0FB2-4094-BC1E-DB17183AD0C1}" type="slidenum">
              <a:rPr lang="en-US" altLang="x-none" smtClean="0"/>
              <a:pPr>
                <a:defRPr/>
              </a:pPr>
              <a:t>7</a:t>
            </a:fld>
            <a:endParaRPr lang="en-US" altLang="x-none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602D91-09D1-1178-62BD-1B740A95FB00}"/>
              </a:ext>
            </a:extLst>
          </p:cNvPr>
          <p:cNvCxnSpPr>
            <a:cxnSpLocks/>
          </p:cNvCxnSpPr>
          <p:nvPr/>
        </p:nvCxnSpPr>
        <p:spPr>
          <a:xfrm>
            <a:off x="3008157" y="2241497"/>
            <a:ext cx="842609" cy="9527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B036680-8B68-78F8-42C1-CA79DB1402E3}"/>
              </a:ext>
            </a:extLst>
          </p:cNvPr>
          <p:cNvCxnSpPr>
            <a:cxnSpLocks/>
          </p:cNvCxnSpPr>
          <p:nvPr/>
        </p:nvCxnSpPr>
        <p:spPr>
          <a:xfrm flipV="1">
            <a:off x="4694780" y="2248307"/>
            <a:ext cx="401262" cy="5434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8866EDAD-F8C5-A727-6EC9-ACD412EA71F0}"/>
              </a:ext>
            </a:extLst>
          </p:cNvPr>
          <p:cNvSpPr>
            <a:spLocks noChangeAspect="1"/>
          </p:cNvSpPr>
          <p:nvPr/>
        </p:nvSpPr>
        <p:spPr>
          <a:xfrm>
            <a:off x="1886266" y="2021012"/>
            <a:ext cx="1121891" cy="46002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Controller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D4AE3CB-E9ED-DE25-BD04-B502F8650803}"/>
              </a:ext>
            </a:extLst>
          </p:cNvPr>
          <p:cNvCxnSpPr>
            <a:cxnSpLocks/>
          </p:cNvCxnSpPr>
          <p:nvPr/>
        </p:nvCxnSpPr>
        <p:spPr>
          <a:xfrm flipV="1">
            <a:off x="530655" y="2249121"/>
            <a:ext cx="644896" cy="3806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>
            <a:extLst>
              <a:ext uri="{FF2B5EF4-FFF2-40B4-BE49-F238E27FC236}">
                <a16:creationId xmlns:a16="http://schemas.microsoft.com/office/drawing/2014/main" id="{00AF0B01-A51A-CB0A-9C56-718AD675657E}"/>
              </a:ext>
            </a:extLst>
          </p:cNvPr>
          <p:cNvSpPr/>
          <p:nvPr/>
        </p:nvSpPr>
        <p:spPr>
          <a:xfrm>
            <a:off x="1194765" y="2100104"/>
            <a:ext cx="301841" cy="30184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1482900F-9EF7-8413-2526-895B9A08DDF3}"/>
              </a:ext>
            </a:extLst>
          </p:cNvPr>
          <p:cNvCxnSpPr>
            <a:cxnSpLocks/>
            <a:stCxn id="27" idx="1"/>
            <a:endCxn id="15" idx="4"/>
          </p:cNvCxnSpPr>
          <p:nvPr/>
        </p:nvCxnSpPr>
        <p:spPr>
          <a:xfrm rot="10800000">
            <a:off x="1345687" y="2401944"/>
            <a:ext cx="1665793" cy="378230"/>
          </a:xfrm>
          <a:prstGeom prst="bentConnector2">
            <a:avLst/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008CAF-3B48-F950-82EF-E832521153B9}"/>
              </a:ext>
            </a:extLst>
          </p:cNvPr>
          <p:cNvCxnSpPr>
            <a:cxnSpLocks/>
          </p:cNvCxnSpPr>
          <p:nvPr/>
        </p:nvCxnSpPr>
        <p:spPr>
          <a:xfrm flipV="1">
            <a:off x="1496606" y="2248263"/>
            <a:ext cx="389660" cy="9528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/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72437C1-12AF-7B64-F32D-A280FD99A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8176" y="2558637"/>
                <a:ext cx="237244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11479" y="2593899"/>
                <a:ext cx="643565" cy="372550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6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Filter</m:t>
                      </m:r>
                    </m:oMath>
                  </m:oMathPara>
                </a14:m>
                <a:endParaRPr lang="en-US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B1373E17-86DC-4C6A-7C9B-B5EECF95754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479" y="2593899"/>
                <a:ext cx="643565" cy="3725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>
            <a:extLst>
              <a:ext uri="{FF2B5EF4-FFF2-40B4-BE49-F238E27FC236}">
                <a16:creationId xmlns:a16="http://schemas.microsoft.com/office/drawing/2014/main" id="{2DF9DBBE-87ED-0161-8BC4-9FC9515B0B10}"/>
              </a:ext>
            </a:extLst>
          </p:cNvPr>
          <p:cNvCxnSpPr>
            <a:cxnSpLocks/>
            <a:endCxn id="27" idx="3"/>
          </p:cNvCxnSpPr>
          <p:nvPr/>
        </p:nvCxnSpPr>
        <p:spPr>
          <a:xfrm rot="10800000" flipV="1">
            <a:off x="3655044" y="2261984"/>
            <a:ext cx="1358390" cy="518190"/>
          </a:xfrm>
          <a:prstGeom prst="bentConnector3">
            <a:avLst>
              <a:gd name="adj1" fmla="val 14408"/>
            </a:avLst>
          </a:prstGeom>
          <a:ln w="19050"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EE2654C-5855-0701-C97F-E4867234FBA1}"/>
              </a:ext>
            </a:extLst>
          </p:cNvPr>
          <p:cNvGrpSpPr/>
          <p:nvPr/>
        </p:nvGrpSpPr>
        <p:grpSpPr>
          <a:xfrm>
            <a:off x="3850766" y="2021012"/>
            <a:ext cx="910336" cy="460025"/>
            <a:chOff x="3850766" y="2093599"/>
            <a:chExt cx="910336" cy="460025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C081882-D455-3B3F-4CA6-EF39C653D10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188798" y="2093599"/>
              <a:ext cx="505982" cy="460025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330FB3-A1EE-8B25-05B0-CC77B290AE74}"/>
                    </a:ext>
                  </a:extLst>
                </p:cNvPr>
                <p:cNvSpPr/>
                <p:nvPr/>
              </p:nvSpPr>
              <p:spPr>
                <a:xfrm>
                  <a:off x="4049048" y="2155969"/>
                  <a:ext cx="712054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C330FB3-A1EE-8B25-05B0-CC77B290AE7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9048" y="2155969"/>
                  <a:ext cx="712054" cy="30777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79809EF-2565-F9DD-D489-854392E9B0DD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850766" y="2093599"/>
              <a:ext cx="321220" cy="46002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</a:t>
              </a:r>
            </a:p>
          </p:txBody>
        </p:sp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84104E68-3DB6-9B4F-F726-7A24F7CBCF7D}"/>
              </a:ext>
            </a:extLst>
          </p:cNvPr>
          <p:cNvSpPr txBox="1"/>
          <p:nvPr/>
        </p:nvSpPr>
        <p:spPr>
          <a:xfrm>
            <a:off x="236485" y="1912881"/>
            <a:ext cx="8114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setpoint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F6A3A8B-C0DB-8B57-29C8-41F767EB0FE4}"/>
              </a:ext>
            </a:extLst>
          </p:cNvPr>
          <p:cNvSpPr txBox="1"/>
          <p:nvPr/>
        </p:nvSpPr>
        <p:spPr>
          <a:xfrm>
            <a:off x="4889135" y="1908144"/>
            <a:ext cx="6815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36617396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67C39-9B4A-A780-05E3-40D890C86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12680"/>
            <a:ext cx="8229600" cy="838200"/>
          </a:xfrm>
        </p:spPr>
        <p:txBody>
          <a:bodyPr/>
          <a:lstStyle/>
          <a:p>
            <a:r>
              <a:rPr lang="en-US" sz="2800" dirty="0"/>
              <a:t>Proportional, Integral, Differential  (PID)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8D8B54-2CED-106C-8788-8735D631710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10ABAF-4FF8-8647-249D-F9127B377182}"/>
              </a:ext>
            </a:extLst>
          </p:cNvPr>
          <p:cNvSpPr txBox="1"/>
          <p:nvPr/>
        </p:nvSpPr>
        <p:spPr>
          <a:xfrm>
            <a:off x="1422222" y="4240924"/>
            <a:ext cx="34291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PID controllers are widely used.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AB3D0E-5E47-6185-E82B-C4212DDA298C}"/>
              </a:ext>
            </a:extLst>
          </p:cNvPr>
          <p:cNvSpPr txBox="1"/>
          <p:nvPr/>
        </p:nvSpPr>
        <p:spPr>
          <a:xfrm>
            <a:off x="1429226" y="4735645"/>
            <a:ext cx="66479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3 different control mechanisms that can be used in combination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DB2F27-A46B-F0AF-1DEE-860973C4D6A3}"/>
              </a:ext>
            </a:extLst>
          </p:cNvPr>
          <p:cNvSpPr txBox="1"/>
          <p:nvPr/>
        </p:nvSpPr>
        <p:spPr>
          <a:xfrm>
            <a:off x="1908840" y="5238882"/>
            <a:ext cx="4506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All have a single input and a single output.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8487F0-580C-C5BF-E0B5-BED73E407A8F}"/>
              </a:ext>
            </a:extLst>
          </p:cNvPr>
          <p:cNvSpPr txBox="1"/>
          <p:nvPr/>
        </p:nvSpPr>
        <p:spPr>
          <a:xfrm>
            <a:off x="1924606" y="5717101"/>
            <a:ext cx="35189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All make use of the control error.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05CC72E-0C64-99EA-71E4-D708550B6384}"/>
              </a:ext>
            </a:extLst>
          </p:cNvPr>
          <p:cNvGrpSpPr/>
          <p:nvPr/>
        </p:nvGrpSpPr>
        <p:grpSpPr>
          <a:xfrm>
            <a:off x="1336168" y="2002209"/>
            <a:ext cx="5096166" cy="1084194"/>
            <a:chOff x="1336168" y="2002209"/>
            <a:chExt cx="5096166" cy="1084194"/>
          </a:xfrm>
        </p:grpSpPr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8B80D90-2646-5C15-CA4E-CA1B5B60363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32427" y="2169442"/>
              <a:ext cx="643565" cy="634949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0C92C387-8E9F-BD44-18A8-F2C1FE2E145E}"/>
                </a:ext>
              </a:extLst>
            </p:cNvPr>
            <p:cNvCxnSpPr>
              <a:cxnSpLocks/>
              <a:stCxn id="47" idx="3"/>
              <a:endCxn id="43" idx="1"/>
            </p:cNvCxnSpPr>
            <p:nvPr/>
          </p:nvCxnSpPr>
          <p:spPr>
            <a:xfrm>
              <a:off x="3814880" y="2478370"/>
              <a:ext cx="517547" cy="8547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60FBCD49-5D81-07A8-F176-E47B5C36CE1D}"/>
                </a:ext>
              </a:extLst>
            </p:cNvPr>
            <p:cNvCxnSpPr>
              <a:cxnSpLocks/>
              <a:stCxn id="43" idx="3"/>
              <a:endCxn id="57" idx="2"/>
            </p:cNvCxnSpPr>
            <p:nvPr/>
          </p:nvCxnSpPr>
          <p:spPr>
            <a:xfrm flipV="1">
              <a:off x="4975992" y="2484865"/>
              <a:ext cx="716568" cy="2052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6738D6D-D127-F5A2-6E23-8DE5E72C7438}"/>
                    </a:ext>
                  </a:extLst>
                </p:cNvPr>
                <p:cNvSpPr/>
                <p:nvPr/>
              </p:nvSpPr>
              <p:spPr>
                <a:xfrm>
                  <a:off x="4309233" y="2312143"/>
                  <a:ext cx="712054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6" name="Rectangle 45">
                  <a:extLst>
                    <a:ext uri="{FF2B5EF4-FFF2-40B4-BE49-F238E27FC236}">
                      <a16:creationId xmlns:a16="http://schemas.microsoft.com/office/drawing/2014/main" id="{36738D6D-D127-F5A2-6E23-8DE5E72C743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09233" y="2312143"/>
                  <a:ext cx="712054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2722E8C7-4010-DB16-101A-FC015A1BAE4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2692989" y="2160895"/>
              <a:ext cx="1121891" cy="634950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Controller</a:t>
              </a:r>
            </a:p>
          </p:txBody>
        </p: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BD3DBFF0-0B3A-C0EE-6C49-D308F93471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37378" y="2508945"/>
              <a:ext cx="644896" cy="3806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28307970-EA78-4433-7665-43C88A214643}"/>
                </a:ext>
              </a:extLst>
            </p:cNvPr>
            <p:cNvSpPr/>
            <p:nvPr/>
          </p:nvSpPr>
          <p:spPr>
            <a:xfrm>
              <a:off x="2001488" y="2335821"/>
              <a:ext cx="301841" cy="301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40E20AF1-D7A0-82BB-ED28-FFBAE92BFC86}"/>
                </a:ext>
              </a:extLst>
            </p:cNvPr>
            <p:cNvCxnSpPr>
              <a:cxnSpLocks/>
              <a:stCxn id="49" idx="6"/>
              <a:endCxn id="47" idx="1"/>
            </p:cNvCxnSpPr>
            <p:nvPr/>
          </p:nvCxnSpPr>
          <p:spPr>
            <a:xfrm flipV="1">
              <a:off x="2303329" y="2478370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5C4D45D-9EE0-89D3-99A1-680D2AB4131C}"/>
                    </a:ext>
                  </a:extLst>
                </p:cNvPr>
                <p:cNvSpPr txBox="1"/>
                <p:nvPr/>
              </p:nvSpPr>
              <p:spPr>
                <a:xfrm>
                  <a:off x="1884899" y="2809404"/>
                  <a:ext cx="23724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95C4D45D-9EE0-89D3-99A1-680D2AB413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4899" y="2809404"/>
                  <a:ext cx="237244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31EDE0B-C928-F50D-1048-18726F4825B8}"/>
                    </a:ext>
                  </a:extLst>
                </p:cNvPr>
                <p:cNvSpPr/>
                <p:nvPr/>
              </p:nvSpPr>
              <p:spPr>
                <a:xfrm>
                  <a:off x="1336168" y="2043073"/>
                  <a:ext cx="54566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C31EDE0B-C928-F50D-1048-18726F4825B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36168" y="2043073"/>
                  <a:ext cx="545662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7E2DB3C-068B-5A9F-6318-212F6D5E3EAC}"/>
                    </a:ext>
                  </a:extLst>
                </p:cNvPr>
                <p:cNvSpPr/>
                <p:nvPr/>
              </p:nvSpPr>
              <p:spPr>
                <a:xfrm>
                  <a:off x="2185326" y="2002209"/>
                  <a:ext cx="550472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4" name="Rectangle 53">
                  <a:extLst>
                    <a:ext uri="{FF2B5EF4-FFF2-40B4-BE49-F238E27FC236}">
                      <a16:creationId xmlns:a16="http://schemas.microsoft.com/office/drawing/2014/main" id="{87E2DB3C-068B-5A9F-6318-212F6D5E3E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326" y="2002209"/>
                  <a:ext cx="550472" cy="307777"/>
                </a:xfrm>
                <a:prstGeom prst="rect">
                  <a:avLst/>
                </a:prstGeom>
                <a:blipFill>
                  <a:blip r:embed="rId5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DF737B9-1677-069F-1900-1FAE6B9F0BE7}"/>
                    </a:ext>
                  </a:extLst>
                </p:cNvPr>
                <p:cNvSpPr/>
                <p:nvPr/>
              </p:nvSpPr>
              <p:spPr>
                <a:xfrm>
                  <a:off x="3714373" y="2057423"/>
                  <a:ext cx="716478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5" name="Rectangle 54">
                  <a:extLst>
                    <a:ext uri="{FF2B5EF4-FFF2-40B4-BE49-F238E27FC236}">
                      <a16:creationId xmlns:a16="http://schemas.microsoft.com/office/drawing/2014/main" id="{2DF737B9-1677-069F-1900-1FAE6B9F0BE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4373" y="2057423"/>
                  <a:ext cx="716478" cy="307777"/>
                </a:xfrm>
                <a:prstGeom prst="rect">
                  <a:avLst/>
                </a:prstGeom>
                <a:blipFill>
                  <a:blip r:embed="rId6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7B0069-2242-1F8A-F24D-72015CC446A5}"/>
                    </a:ext>
                  </a:extLst>
                </p:cNvPr>
                <p:cNvSpPr/>
                <p:nvPr/>
              </p:nvSpPr>
              <p:spPr>
                <a:xfrm>
                  <a:off x="4976926" y="2107742"/>
                  <a:ext cx="716478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6" name="Rectangle 55">
                  <a:extLst>
                    <a:ext uri="{FF2B5EF4-FFF2-40B4-BE49-F238E27FC236}">
                      <a16:creationId xmlns:a16="http://schemas.microsoft.com/office/drawing/2014/main" id="{C27B0069-2242-1F8A-F24D-72015CC446A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6926" y="2107742"/>
                  <a:ext cx="716478" cy="307777"/>
                </a:xfrm>
                <a:prstGeom prst="rect">
                  <a:avLst/>
                </a:prstGeom>
                <a:blipFill>
                  <a:blip r:embed="rId7"/>
                  <a:stretch>
                    <a:fillRect b="-12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2A865C1E-9251-F573-DCB3-7CA34A9B57EB}"/>
                </a:ext>
              </a:extLst>
            </p:cNvPr>
            <p:cNvSpPr/>
            <p:nvPr/>
          </p:nvSpPr>
          <p:spPr>
            <a:xfrm>
              <a:off x="5692560" y="2333945"/>
              <a:ext cx="301841" cy="30184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+</a:t>
              </a:r>
            </a:p>
          </p:txBody>
        </p: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98652BBC-D4E1-B53D-077D-A50CF5EAF1AD}"/>
                </a:ext>
              </a:extLst>
            </p:cNvPr>
            <p:cNvCxnSpPr>
              <a:cxnSpLocks/>
              <a:stCxn id="57" idx="6"/>
            </p:cNvCxnSpPr>
            <p:nvPr/>
          </p:nvCxnSpPr>
          <p:spPr>
            <a:xfrm flipV="1">
              <a:off x="5994401" y="2478370"/>
              <a:ext cx="437933" cy="6495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Elbow Connector 61">
              <a:extLst>
                <a:ext uri="{FF2B5EF4-FFF2-40B4-BE49-F238E27FC236}">
                  <a16:creationId xmlns:a16="http://schemas.microsoft.com/office/drawing/2014/main" id="{271D8971-FCB0-7748-4DCE-A1FBEAAEADBE}"/>
                </a:ext>
              </a:extLst>
            </p:cNvPr>
            <p:cNvCxnSpPr>
              <a:cxnSpLocks/>
              <a:stCxn id="57" idx="4"/>
              <a:endCxn id="49" idx="4"/>
            </p:cNvCxnSpPr>
            <p:nvPr/>
          </p:nvCxnSpPr>
          <p:spPr>
            <a:xfrm rot="5400000">
              <a:off x="3997007" y="791187"/>
              <a:ext cx="1876" cy="3691072"/>
            </a:xfrm>
            <a:prstGeom prst="bentConnector3">
              <a:avLst>
                <a:gd name="adj1" fmla="val 20689286"/>
              </a:avLst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98389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Proportional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A8729F-6AEE-124D-3AB8-767868AC0E30}"/>
              </a:ext>
            </a:extLst>
          </p:cNvPr>
          <p:cNvSpPr>
            <a:spLocks noChangeAspect="1"/>
          </p:cNvSpPr>
          <p:nvPr/>
        </p:nvSpPr>
        <p:spPr>
          <a:xfrm>
            <a:off x="2022900" y="1857576"/>
            <a:ext cx="760333" cy="700764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CF6F9-066B-E2B1-4E56-F81155256000}"/>
                  </a:ext>
                </a:extLst>
              </p:cNvPr>
              <p:cNvSpPr txBox="1"/>
              <p:nvPr/>
            </p:nvSpPr>
            <p:spPr>
              <a:xfrm>
                <a:off x="2253943" y="2029567"/>
                <a:ext cx="343171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61CF6F9-066B-E2B1-4E56-F81155256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3943" y="2029567"/>
                <a:ext cx="343171" cy="331437"/>
              </a:xfrm>
              <a:prstGeom prst="rect">
                <a:avLst/>
              </a:prstGeom>
              <a:blipFill>
                <a:blip r:embed="rId2"/>
                <a:stretch>
                  <a:fillRect l="-14286" r="-3571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4745F94-9F5B-E0B6-03F8-CB42C0B6A49A}"/>
              </a:ext>
            </a:extLst>
          </p:cNvPr>
          <p:cNvCxnSpPr>
            <a:cxnSpLocks/>
          </p:cNvCxnSpPr>
          <p:nvPr/>
        </p:nvCxnSpPr>
        <p:spPr>
          <a:xfrm flipV="1">
            <a:off x="1538169" y="2269647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631BA5-38D9-5526-7D7E-71C2ABD3213E}"/>
                  </a:ext>
                </a:extLst>
              </p:cNvPr>
              <p:cNvSpPr/>
              <p:nvPr/>
            </p:nvSpPr>
            <p:spPr>
              <a:xfrm>
                <a:off x="1346593" y="1751446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F8631BA5-38D9-5526-7D7E-71C2ABD321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6593" y="1751446"/>
                <a:ext cx="706347" cy="400110"/>
              </a:xfrm>
              <a:prstGeom prst="rect">
                <a:avLst/>
              </a:prstGeom>
              <a:blipFill>
                <a:blip r:embed="rId3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3B0C7C-54FB-AFA8-20BC-08676AD83190}"/>
              </a:ext>
            </a:extLst>
          </p:cNvPr>
          <p:cNvCxnSpPr>
            <a:cxnSpLocks/>
          </p:cNvCxnSpPr>
          <p:nvPr/>
        </p:nvCxnSpPr>
        <p:spPr>
          <a:xfrm>
            <a:off x="2905973" y="2247835"/>
            <a:ext cx="390817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C126B5-050C-78C4-FDC7-57A0E7D66D5E}"/>
                  </a:ext>
                </a:extLst>
              </p:cNvPr>
              <p:cNvSpPr/>
              <p:nvPr/>
            </p:nvSpPr>
            <p:spPr>
              <a:xfrm>
                <a:off x="2849108" y="1714077"/>
                <a:ext cx="7280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C126B5-050C-78C4-FDC7-57A0E7D66D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108" y="1714077"/>
                <a:ext cx="728084" cy="400110"/>
              </a:xfrm>
              <a:prstGeom prst="rect">
                <a:avLst/>
              </a:prstGeom>
              <a:blipFill>
                <a:blip r:embed="rId4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D0F4AD8E-35E5-B9C9-5946-B9567825040B}"/>
              </a:ext>
            </a:extLst>
          </p:cNvPr>
          <p:cNvSpPr txBox="1"/>
          <p:nvPr/>
        </p:nvSpPr>
        <p:spPr>
          <a:xfrm>
            <a:off x="1311024" y="3657600"/>
            <a:ext cx="48221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Only takes into account the current error.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6BD72E-7AC5-AB83-2F30-7D8F5638D886}"/>
              </a:ext>
            </a:extLst>
          </p:cNvPr>
          <p:cNvSpPr txBox="1"/>
          <p:nvPr/>
        </p:nvSpPr>
        <p:spPr>
          <a:xfrm>
            <a:off x="1311024" y="4309477"/>
            <a:ext cx="660309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Simplicity, responds to change in current control error.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D9B1FC-F742-BEF2-CF73-B6A163DF9EA6}"/>
                  </a:ext>
                </a:extLst>
              </p:cNvPr>
              <p:cNvSpPr txBox="1"/>
              <p:nvPr/>
            </p:nvSpPr>
            <p:spPr>
              <a:xfrm>
                <a:off x="1443446" y="1308299"/>
                <a:ext cx="160858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9D9B1FC-F742-BEF2-CF73-B6A163DF9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3446" y="1308299"/>
                <a:ext cx="1608582" cy="307777"/>
              </a:xfrm>
              <a:prstGeom prst="rect">
                <a:avLst/>
              </a:prstGeom>
              <a:blipFill>
                <a:blip r:embed="rId5"/>
                <a:stretch>
                  <a:fillRect l="-1563" r="-4688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2DD2BCE4-46E2-13ED-FA19-FA16332CBAE9}"/>
              </a:ext>
            </a:extLst>
          </p:cNvPr>
          <p:cNvSpPr txBox="1"/>
          <p:nvPr/>
        </p:nvSpPr>
        <p:spPr>
          <a:xfrm>
            <a:off x="1311024" y="5269129"/>
            <a:ext cx="658706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Biased since once at reference value, </a:t>
            </a:r>
            <a:r>
              <a:rPr lang="en-US" sz="2000" i="1" dirty="0"/>
              <a:t>u(t)</a:t>
            </a:r>
            <a:r>
              <a:rPr lang="en-US" sz="2000" dirty="0"/>
              <a:t> goes to 0.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73A04C-AFC4-E1ED-5721-B10D7A794F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32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Integral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/>
              <p:nvPr/>
            </p:nvSpPr>
            <p:spPr>
              <a:xfrm>
                <a:off x="1376274" y="981403"/>
                <a:ext cx="2333878" cy="100527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6274" y="981403"/>
                <a:ext cx="2333878" cy="1005275"/>
              </a:xfrm>
              <a:prstGeom prst="rect">
                <a:avLst/>
              </a:prstGeom>
              <a:blipFill>
                <a:blip r:embed="rId2"/>
                <a:stretch>
                  <a:fillRect l="-2162" t="-125000" b="-15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11B8E1E3-EE10-E785-657F-2A659626BDD6}"/>
              </a:ext>
            </a:extLst>
          </p:cNvPr>
          <p:cNvSpPr txBox="1"/>
          <p:nvPr/>
        </p:nvSpPr>
        <p:spPr>
          <a:xfrm>
            <a:off x="1311024" y="3657600"/>
            <a:ext cx="4810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Considers entire history of control errors.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5347DB-2067-BDB9-F735-7474A836F75C}"/>
              </a:ext>
            </a:extLst>
          </p:cNvPr>
          <p:cNvSpPr txBox="1"/>
          <p:nvPr/>
        </p:nvSpPr>
        <p:spPr>
          <a:xfrm>
            <a:off x="1311024" y="4309477"/>
            <a:ext cx="15520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Unbiased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AF62F8-DC06-B5D1-77C2-76D1E7D24C2E}"/>
              </a:ext>
            </a:extLst>
          </p:cNvPr>
          <p:cNvSpPr txBox="1"/>
          <p:nvPr/>
        </p:nvSpPr>
        <p:spPr>
          <a:xfrm>
            <a:off x="1311024" y="5269129"/>
            <a:ext cx="21499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Slow response</a:t>
            </a:r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6144FDB3-EB8B-E033-EADF-5DA5413DC00C}"/>
              </a:ext>
            </a:extLst>
          </p:cNvPr>
          <p:cNvGrpSpPr/>
          <p:nvPr/>
        </p:nvGrpSpPr>
        <p:grpSpPr>
          <a:xfrm>
            <a:off x="1131489" y="2118725"/>
            <a:ext cx="3747137" cy="1086223"/>
            <a:chOff x="1131489" y="2118725"/>
            <a:chExt cx="3747137" cy="10862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25BD7F-1E8A-AD4A-0F5B-D1F94C81E0BB}"/>
                    </a:ext>
                  </a:extLst>
                </p:cNvPr>
                <p:cNvSpPr txBox="1"/>
                <p:nvPr/>
              </p:nvSpPr>
              <p:spPr>
                <a:xfrm>
                  <a:off x="3681500" y="2476255"/>
                  <a:ext cx="361125" cy="33143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AA25BD7F-1E8A-AD4A-0F5B-D1F94C81E0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1500" y="2476255"/>
                  <a:ext cx="361125" cy="331437"/>
                </a:xfrm>
                <a:prstGeom prst="rect">
                  <a:avLst/>
                </a:prstGeom>
                <a:blipFill>
                  <a:blip r:embed="rId3"/>
                  <a:stretch>
                    <a:fillRect l="-10000" r="-3333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CF41F21-CE22-12A3-C652-A7028CDEC5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7561" y="2684804"/>
              <a:ext cx="389660" cy="8371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445E002E-32B4-64AE-D7E0-4D607BE221AB}"/>
                </a:ext>
              </a:extLst>
            </p:cNvPr>
            <p:cNvCxnSpPr>
              <a:cxnSpLocks/>
            </p:cNvCxnSpPr>
            <p:nvPr/>
          </p:nvCxnSpPr>
          <p:spPr>
            <a:xfrm>
              <a:off x="4175877" y="2652483"/>
              <a:ext cx="390817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F96676-273D-77AB-F8C6-0BEEC80C975F}"/>
                    </a:ext>
                  </a:extLst>
                </p:cNvPr>
                <p:cNvSpPr/>
                <p:nvPr/>
              </p:nvSpPr>
              <p:spPr>
                <a:xfrm>
                  <a:off x="4150542" y="2118725"/>
                  <a:ext cx="7280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07F96676-273D-77AB-F8C6-0BEEC80C975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0542" y="2118725"/>
                  <a:ext cx="72808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6C6D602-552A-FF05-EA89-FC7A1192AF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75615" y="2725494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F8652C0-938D-08BB-2CBA-FCC573E44EE6}"/>
                    </a:ext>
                  </a:extLst>
                </p:cNvPr>
                <p:cNvSpPr/>
                <p:nvPr/>
              </p:nvSpPr>
              <p:spPr>
                <a:xfrm>
                  <a:off x="1131489" y="2207293"/>
                  <a:ext cx="70634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3F8652C0-938D-08BB-2CBA-FCC573E44EE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1489" y="2207293"/>
                  <a:ext cx="706347" cy="400110"/>
                </a:xfrm>
                <a:prstGeom prst="rect">
                  <a:avLst/>
                </a:prstGeom>
                <a:blipFill>
                  <a:blip r:embed="rId5"/>
                  <a:stretch>
                    <a:fillRect b="-121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AB2E8A30-C686-58DF-4D14-C7A3037A0CAC}"/>
                </a:ext>
              </a:extLst>
            </p:cNvPr>
            <p:cNvSpPr/>
            <p:nvPr/>
          </p:nvSpPr>
          <p:spPr>
            <a:xfrm>
              <a:off x="1807196" y="2167217"/>
              <a:ext cx="2333879" cy="1037731"/>
            </a:xfrm>
            <a:prstGeom prst="rect">
              <a:avLst/>
            </a:prstGeom>
            <a:noFill/>
            <a:ln>
              <a:solidFill>
                <a:srgbClr val="FF0000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F60C3CF-2164-75D5-34FF-4C0DF56D6C25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1989358" y="2351127"/>
                  <a:ext cx="760333" cy="700764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 i="1" dirty="0">
                    <a:latin typeface="Cambria Math" panose="02040503050406030204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en-US" sz="160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  <m:e/>
                        </m:nary>
                      </m:oMath>
                    </m:oMathPara>
                  </a14:m>
                  <a:endParaRPr lang="en-US" sz="1600" dirty="0"/>
                </a:p>
                <a:p>
                  <a:pPr algn="ctr"/>
                  <a:endParaRPr lang="en-US" sz="1600" dirty="0"/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7F60C3CF-2164-75D5-34FF-4C0DF56D6C2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9358" y="2351127"/>
                  <a:ext cx="760333" cy="70076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B7A673E-AF7B-1723-0BA2-701807A282A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3217956" y="2342793"/>
                  <a:ext cx="760333" cy="700764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sub>
                        </m:sSub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6B7A673E-AF7B-1723-0BA2-701807A282A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17956" y="2342793"/>
                  <a:ext cx="760333" cy="70076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B2494A8C-DEFC-04E4-5DCB-4889D875EE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988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E01FA-EFC2-2165-29CA-F96D5D05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5470635" cy="838200"/>
          </a:xfrm>
        </p:spPr>
        <p:txBody>
          <a:bodyPr/>
          <a:lstStyle/>
          <a:p>
            <a:r>
              <a:rPr lang="en-US" dirty="0"/>
              <a:t>Differential Control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67CEF4-628D-4B8C-0130-5B1E31C097A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/>
              <p:nvPr/>
            </p:nvSpPr>
            <p:spPr>
              <a:xfrm>
                <a:off x="1196200" y="1337177"/>
                <a:ext cx="2135579" cy="6155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̇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000" b="0" i="1" dirty="0">
                  <a:latin typeface="Cambria Math" panose="02040503050406030204" pitchFamily="18" charset="0"/>
                </a:endParaRP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FA4E9837-E0A1-9CF5-9C2A-63E09F1873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200" y="1337177"/>
                <a:ext cx="2135579" cy="61555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11B8E1E3-EE10-E785-657F-2A659626BDD6}"/>
              </a:ext>
            </a:extLst>
          </p:cNvPr>
          <p:cNvSpPr txBox="1"/>
          <p:nvPr/>
        </p:nvSpPr>
        <p:spPr>
          <a:xfrm>
            <a:off x="1311024" y="3657600"/>
            <a:ext cx="38731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Senses change in control errors.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5347DB-2067-BDB9-F735-7474A836F75C}"/>
              </a:ext>
            </a:extLst>
          </p:cNvPr>
          <p:cNvSpPr txBox="1"/>
          <p:nvPr/>
        </p:nvSpPr>
        <p:spPr>
          <a:xfrm>
            <a:off x="1311024" y="4309477"/>
            <a:ext cx="34852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Appeal</a:t>
            </a:r>
          </a:p>
          <a:p>
            <a:r>
              <a:rPr lang="en-US" sz="2000" dirty="0"/>
              <a:t>    Fast response to changes.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AF62F8-DC06-B5D1-77C2-76D1E7D24C2E}"/>
              </a:ext>
            </a:extLst>
          </p:cNvPr>
          <p:cNvSpPr txBox="1"/>
          <p:nvPr/>
        </p:nvSpPr>
        <p:spPr>
          <a:xfrm>
            <a:off x="1311024" y="5269129"/>
            <a:ext cx="324479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Issues</a:t>
            </a:r>
          </a:p>
          <a:p>
            <a:r>
              <a:rPr lang="en-US" sz="2000" dirty="0"/>
              <a:t>    Works poorly with noise.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8BFFE-5DCD-4255-DE10-FB949E33FA0F}"/>
                  </a:ext>
                </a:extLst>
              </p:cNvPr>
              <p:cNvSpPr txBox="1"/>
              <p:nvPr/>
            </p:nvSpPr>
            <p:spPr>
              <a:xfrm>
                <a:off x="3502085" y="2415025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68BFFE-5DCD-4255-DE10-FB949E33F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85" y="2415025"/>
                <a:ext cx="361125" cy="331437"/>
              </a:xfrm>
              <a:prstGeom prst="rect">
                <a:avLst/>
              </a:prstGeom>
              <a:blipFill>
                <a:blip r:embed="rId3"/>
                <a:stretch>
                  <a:fillRect l="-13333" r="-333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D646EEF-E30E-7D91-A47C-BD049988A075}"/>
              </a:ext>
            </a:extLst>
          </p:cNvPr>
          <p:cNvCxnSpPr>
            <a:cxnSpLocks/>
          </p:cNvCxnSpPr>
          <p:nvPr/>
        </p:nvCxnSpPr>
        <p:spPr>
          <a:xfrm flipV="1">
            <a:off x="2618146" y="2623574"/>
            <a:ext cx="389660" cy="8371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142977-CE08-22C8-2869-93F99B64BE75}"/>
              </a:ext>
            </a:extLst>
          </p:cNvPr>
          <p:cNvCxnSpPr>
            <a:cxnSpLocks/>
          </p:cNvCxnSpPr>
          <p:nvPr/>
        </p:nvCxnSpPr>
        <p:spPr>
          <a:xfrm>
            <a:off x="3996462" y="2591253"/>
            <a:ext cx="390817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C8D71-2417-3C43-363F-356424DB994D}"/>
                  </a:ext>
                </a:extLst>
              </p:cNvPr>
              <p:cNvSpPr/>
              <p:nvPr/>
            </p:nvSpPr>
            <p:spPr>
              <a:xfrm>
                <a:off x="3971127" y="2057495"/>
                <a:ext cx="728084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EC8D71-2417-3C43-363F-356424DB994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1127" y="2057495"/>
                <a:ext cx="728084" cy="400110"/>
              </a:xfrm>
              <a:prstGeom prst="rect">
                <a:avLst/>
              </a:prstGeom>
              <a:blipFill>
                <a:blip r:embed="rId4"/>
                <a:stretch>
                  <a:fillRect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D6A64C9-BFCE-82A3-15A7-9235E9B083BC}"/>
              </a:ext>
            </a:extLst>
          </p:cNvPr>
          <p:cNvCxnSpPr>
            <a:cxnSpLocks/>
          </p:cNvCxnSpPr>
          <p:nvPr/>
        </p:nvCxnSpPr>
        <p:spPr>
          <a:xfrm flipV="1">
            <a:off x="1196200" y="2664264"/>
            <a:ext cx="389660" cy="8371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4576B56-2851-A667-CEF4-F8CD413E1F0C}"/>
                  </a:ext>
                </a:extLst>
              </p:cNvPr>
              <p:cNvSpPr/>
              <p:nvPr/>
            </p:nvSpPr>
            <p:spPr>
              <a:xfrm>
                <a:off x="952074" y="2146063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4576B56-2851-A667-CEF4-F8CD413E1F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2074" y="2146063"/>
                <a:ext cx="706347" cy="400110"/>
              </a:xfrm>
              <a:prstGeom prst="rect">
                <a:avLst/>
              </a:prstGeom>
              <a:blipFill>
                <a:blip r:embed="rId5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F4535ABD-4C8E-5ACC-E2CB-09E0C339E3ED}"/>
              </a:ext>
            </a:extLst>
          </p:cNvPr>
          <p:cNvSpPr/>
          <p:nvPr/>
        </p:nvSpPr>
        <p:spPr>
          <a:xfrm>
            <a:off x="1627781" y="2105987"/>
            <a:ext cx="2333879" cy="1037731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8EF449-BCD4-85A9-F047-3C854782ABE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809943" y="2289897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18EF449-BCD4-85A9-F047-3C854782AB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943" y="2289897"/>
                <a:ext cx="760333" cy="700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07E124-0FDA-3CAB-4CA3-029ADFFAAA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38541" y="2281563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B07E124-0FDA-3CAB-4CA3-029ADFFAAA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541" y="2281563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1929481-AEEF-E212-89C8-40D8C7CF1FE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401851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595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7D139-C3EF-C568-000F-32FB1D14E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4724400" cy="838200"/>
          </a:xfrm>
        </p:spPr>
        <p:txBody>
          <a:bodyPr/>
          <a:lstStyle/>
          <a:p>
            <a:r>
              <a:rPr lang="en-US" dirty="0"/>
              <a:t>Common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8B9C7B-DFA8-0E9D-AD14-D9176EAB806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8ED455-E05A-E189-FF23-7A83DA88C918}"/>
              </a:ext>
            </a:extLst>
          </p:cNvPr>
          <p:cNvGrpSpPr/>
          <p:nvPr/>
        </p:nvGrpSpPr>
        <p:grpSpPr>
          <a:xfrm>
            <a:off x="300868" y="1704406"/>
            <a:ext cx="2230599" cy="844263"/>
            <a:chOff x="673932" y="1714077"/>
            <a:chExt cx="2230599" cy="84426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1BB069B-5E4A-F66A-55BE-57D91C17094F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50239" y="1857576"/>
              <a:ext cx="760333" cy="700764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2C11CA-CF69-E965-4CE9-C509697BDF4E}"/>
                    </a:ext>
                  </a:extLst>
                </p:cNvPr>
                <p:cNvSpPr txBox="1"/>
                <p:nvPr/>
              </p:nvSpPr>
              <p:spPr>
                <a:xfrm>
                  <a:off x="1581282" y="2029567"/>
                  <a:ext cx="348429" cy="3077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AD2C11CA-CF69-E965-4CE9-C509697BDF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81282" y="2029567"/>
                  <a:ext cx="348429" cy="307777"/>
                </a:xfrm>
                <a:prstGeom prst="rect">
                  <a:avLst/>
                </a:prstGeom>
                <a:blipFill>
                  <a:blip r:embed="rId2"/>
                  <a:stretch>
                    <a:fillRect l="-17857" r="-3571" b="-115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6635ADB4-451C-73BE-1D38-10D3BD6AA5F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5508" y="2269647"/>
              <a:ext cx="389660" cy="8371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581EDD-FF8F-B094-C8B0-6B9241708B39}"/>
                    </a:ext>
                  </a:extLst>
                </p:cNvPr>
                <p:cNvSpPr/>
                <p:nvPr/>
              </p:nvSpPr>
              <p:spPr>
                <a:xfrm>
                  <a:off x="673932" y="1751446"/>
                  <a:ext cx="706347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1581EDD-FF8F-B094-C8B0-6B9241708B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3932" y="1751446"/>
                  <a:ext cx="706347" cy="400110"/>
                </a:xfrm>
                <a:prstGeom prst="rect">
                  <a:avLst/>
                </a:prstGeom>
                <a:blipFill>
                  <a:blip r:embed="rId3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21DB1D7-D04F-D5CD-7888-A307A68F8AD2}"/>
                </a:ext>
              </a:extLst>
            </p:cNvPr>
            <p:cNvCxnSpPr>
              <a:cxnSpLocks/>
            </p:cNvCxnSpPr>
            <p:nvPr/>
          </p:nvCxnSpPr>
          <p:spPr>
            <a:xfrm>
              <a:off x="2233312" y="2247835"/>
              <a:ext cx="390817" cy="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158D22F-0EA4-5C40-8424-1BAFAE5ABE45}"/>
                    </a:ext>
                  </a:extLst>
                </p:cNvPr>
                <p:cNvSpPr/>
                <p:nvPr/>
              </p:nvSpPr>
              <p:spPr>
                <a:xfrm>
                  <a:off x="2176447" y="1714077"/>
                  <a:ext cx="728084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lang="en-US" sz="2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9158D22F-0EA4-5C40-8424-1BAFAE5ABE4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76447" y="1714077"/>
                  <a:ext cx="728084" cy="400110"/>
                </a:xfrm>
                <a:prstGeom prst="rect">
                  <a:avLst/>
                </a:prstGeom>
                <a:blipFill>
                  <a:blip r:embed="rId4"/>
                  <a:stretch>
                    <a:fillRect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20E573-6429-F4CA-527B-7BF8BDD42CD9}"/>
                  </a:ext>
                </a:extLst>
              </p:cNvPr>
              <p:cNvSpPr txBox="1"/>
              <p:nvPr/>
            </p:nvSpPr>
            <p:spPr>
              <a:xfrm>
                <a:off x="6969699" y="2623589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320E573-6429-F4CA-527B-7BF8BDD42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9699" y="2623589"/>
                <a:ext cx="361125" cy="331437"/>
              </a:xfrm>
              <a:prstGeom prst="rect">
                <a:avLst/>
              </a:prstGeom>
              <a:blipFill>
                <a:blip r:embed="rId5"/>
                <a:stretch>
                  <a:fillRect l="-13333" r="-3333" b="-2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E1E92A2-340D-E1EA-D390-1D05A9349CD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 flipV="1">
            <a:off x="6037890" y="2840509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1E0440-9915-8446-8163-07B23EA1A608}"/>
                  </a:ext>
                </a:extLst>
              </p:cNvPr>
              <p:cNvSpPr/>
              <p:nvPr/>
            </p:nvSpPr>
            <p:spPr>
              <a:xfrm>
                <a:off x="3878881" y="2019535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F1E0440-9915-8446-8163-07B23EA1A6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881" y="2019535"/>
                <a:ext cx="706347" cy="400110"/>
              </a:xfrm>
              <a:prstGeom prst="rect">
                <a:avLst/>
              </a:prstGeom>
              <a:blipFill>
                <a:blip r:embed="rId6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>
            <a:extLst>
              <a:ext uri="{FF2B5EF4-FFF2-40B4-BE49-F238E27FC236}">
                <a16:creationId xmlns:a16="http://schemas.microsoft.com/office/drawing/2014/main" id="{7293994A-1348-ECFB-8F70-3640928A7A5D}"/>
              </a:ext>
            </a:extLst>
          </p:cNvPr>
          <p:cNvSpPr/>
          <p:nvPr/>
        </p:nvSpPr>
        <p:spPr>
          <a:xfrm>
            <a:off x="4858249" y="1266495"/>
            <a:ext cx="3331358" cy="2085788"/>
          </a:xfrm>
          <a:prstGeom prst="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BBF1A7-0ABF-E47C-69EE-D276368BB1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277557" y="2498461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A4BBF1A7-0ABF-E47C-69EE-D276368BB1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77557" y="2498461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1CC7D6-D317-7181-95CE-9C7F1BB2DC7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6506155" y="2490127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151CC7D6-D317-7181-95CE-9C7F1BB2DC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6155" y="2490127"/>
                <a:ext cx="760333" cy="70076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ectangle 24">
            <a:extLst>
              <a:ext uri="{FF2B5EF4-FFF2-40B4-BE49-F238E27FC236}">
                <a16:creationId xmlns:a16="http://schemas.microsoft.com/office/drawing/2014/main" id="{C0863312-CD5B-156E-8CB4-A064E4B5AA0B}"/>
              </a:ext>
            </a:extLst>
          </p:cNvPr>
          <p:cNvSpPr>
            <a:spLocks noChangeAspect="1"/>
          </p:cNvSpPr>
          <p:nvPr/>
        </p:nvSpPr>
        <p:spPr>
          <a:xfrm>
            <a:off x="5794700" y="1391145"/>
            <a:ext cx="760333" cy="700764"/>
          </a:xfrm>
          <a:prstGeom prst="rect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89C2D0-E1CF-9A7A-1E73-4C2CE16A56C2}"/>
                  </a:ext>
                </a:extLst>
              </p:cNvPr>
              <p:cNvSpPr txBox="1"/>
              <p:nvPr/>
            </p:nvSpPr>
            <p:spPr>
              <a:xfrm>
                <a:off x="6025743" y="1563136"/>
                <a:ext cx="3484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689C2D0-E1CF-9A7A-1E73-4C2CE16A5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5743" y="1563136"/>
                <a:ext cx="348429" cy="307777"/>
              </a:xfrm>
              <a:prstGeom prst="rect">
                <a:avLst/>
              </a:prstGeom>
              <a:blipFill>
                <a:blip r:embed="rId9"/>
                <a:stretch>
                  <a:fillRect l="-17241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Oval 30">
            <a:extLst>
              <a:ext uri="{FF2B5EF4-FFF2-40B4-BE49-F238E27FC236}">
                <a16:creationId xmlns:a16="http://schemas.microsoft.com/office/drawing/2014/main" id="{7B8556D7-2727-FF8D-06B3-84DDC1F6228F}"/>
              </a:ext>
            </a:extLst>
          </p:cNvPr>
          <p:cNvSpPr/>
          <p:nvPr/>
        </p:nvSpPr>
        <p:spPr>
          <a:xfrm>
            <a:off x="7765666" y="2083173"/>
            <a:ext cx="301841" cy="30184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34" name="Elbow Connector 33">
            <a:extLst>
              <a:ext uri="{FF2B5EF4-FFF2-40B4-BE49-F238E27FC236}">
                <a16:creationId xmlns:a16="http://schemas.microsoft.com/office/drawing/2014/main" id="{FEF5E705-64C5-1D08-3932-53EBDC0FC368}"/>
              </a:ext>
            </a:extLst>
          </p:cNvPr>
          <p:cNvCxnSpPr>
            <a:cxnSpLocks/>
            <a:stCxn id="23" idx="3"/>
            <a:endCxn id="31" idx="4"/>
          </p:cNvCxnSpPr>
          <p:nvPr/>
        </p:nvCxnSpPr>
        <p:spPr>
          <a:xfrm flipV="1">
            <a:off x="7266488" y="2385013"/>
            <a:ext cx="650099" cy="45549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Elbow Connector 35">
            <a:extLst>
              <a:ext uri="{FF2B5EF4-FFF2-40B4-BE49-F238E27FC236}">
                <a16:creationId xmlns:a16="http://schemas.microsoft.com/office/drawing/2014/main" id="{9A500D89-330A-A5DE-1837-EFFA1DC2761E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>
            <a:off x="4585228" y="2219590"/>
            <a:ext cx="692329" cy="62925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Elbow Connector 36">
            <a:extLst>
              <a:ext uri="{FF2B5EF4-FFF2-40B4-BE49-F238E27FC236}">
                <a16:creationId xmlns:a16="http://schemas.microsoft.com/office/drawing/2014/main" id="{EC1B6DFB-7122-260E-F954-79FC564976D3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 flipV="1">
            <a:off x="4585228" y="1741527"/>
            <a:ext cx="1209472" cy="4780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522EE863-F72E-5C97-AC09-D002260AAC27}"/>
              </a:ext>
            </a:extLst>
          </p:cNvPr>
          <p:cNvCxnSpPr>
            <a:cxnSpLocks/>
            <a:stCxn id="25" idx="3"/>
            <a:endCxn id="31" idx="0"/>
          </p:cNvCxnSpPr>
          <p:nvPr/>
        </p:nvCxnSpPr>
        <p:spPr>
          <a:xfrm>
            <a:off x="6555033" y="1741527"/>
            <a:ext cx="1361554" cy="34164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0156131A-5AC2-27A3-6E1B-53A7B4086338}"/>
              </a:ext>
            </a:extLst>
          </p:cNvPr>
          <p:cNvCxnSpPr>
            <a:cxnSpLocks/>
          </p:cNvCxnSpPr>
          <p:nvPr/>
        </p:nvCxnSpPr>
        <p:spPr>
          <a:xfrm>
            <a:off x="8102851" y="2219590"/>
            <a:ext cx="484101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18E3C4-88A4-ECD6-480A-D486CD124217}"/>
                  </a:ext>
                </a:extLst>
              </p:cNvPr>
              <p:cNvSpPr txBox="1"/>
              <p:nvPr/>
            </p:nvSpPr>
            <p:spPr>
              <a:xfrm>
                <a:off x="8189607" y="1833747"/>
                <a:ext cx="362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FA18E3C4-88A4-ECD6-480A-D486CD1242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89607" y="1833747"/>
                <a:ext cx="362607" cy="400110"/>
              </a:xfrm>
              <a:prstGeom prst="rect">
                <a:avLst/>
              </a:prstGeom>
              <a:blipFill>
                <a:blip r:embed="rId10"/>
                <a:stretch>
                  <a:fillRect r="-8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82D1B8-9A38-8B0A-57CC-9701E0D67CF1}"/>
                  </a:ext>
                </a:extLst>
              </p:cNvPr>
              <p:cNvSpPr txBox="1"/>
              <p:nvPr/>
            </p:nvSpPr>
            <p:spPr>
              <a:xfrm>
                <a:off x="3745931" y="4831804"/>
                <a:ext cx="361125" cy="3314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182D1B8-9A38-8B0A-57CC-9701E0D67C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5931" y="4831804"/>
                <a:ext cx="361125" cy="331437"/>
              </a:xfrm>
              <a:prstGeom prst="rect">
                <a:avLst/>
              </a:prstGeom>
              <a:blipFill>
                <a:blip r:embed="rId11"/>
                <a:stretch>
                  <a:fillRect l="-13333" r="-3333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A8FFC500-30C8-3568-1943-23842D181F89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2814122" y="5048724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885A1AB-6ED9-8E5B-D6F7-F1E284EEFC2D}"/>
                  </a:ext>
                </a:extLst>
              </p:cNvPr>
              <p:cNvSpPr/>
              <p:nvPr/>
            </p:nvSpPr>
            <p:spPr>
              <a:xfrm>
                <a:off x="655113" y="4364380"/>
                <a:ext cx="706347" cy="4001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4885A1AB-6ED9-8E5B-D6F7-F1E284EEF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113" y="4364380"/>
                <a:ext cx="706347" cy="400110"/>
              </a:xfrm>
              <a:prstGeom prst="rect">
                <a:avLst/>
              </a:prstGeom>
              <a:blipFill>
                <a:blip r:embed="rId12"/>
                <a:stretch>
                  <a:fillRect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Rectangle 56">
            <a:extLst>
              <a:ext uri="{FF2B5EF4-FFF2-40B4-BE49-F238E27FC236}">
                <a16:creationId xmlns:a16="http://schemas.microsoft.com/office/drawing/2014/main" id="{FE772FED-291A-C229-4D22-1E2947BDE83A}"/>
              </a:ext>
            </a:extLst>
          </p:cNvPr>
          <p:cNvSpPr/>
          <p:nvPr/>
        </p:nvSpPr>
        <p:spPr>
          <a:xfrm>
            <a:off x="1459416" y="3611339"/>
            <a:ext cx="3506423" cy="2936595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7CC8DCA-10B0-CF3A-56D5-EC8C5E7249A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53789" y="4706676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47CC8DCA-10B0-CF3A-56D5-EC8C5E7249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3789" y="4706676"/>
                <a:ext cx="760333" cy="700764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1A50926-7F5A-D5A4-8A05-3F3C605064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282387" y="4698342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91A50926-7F5A-D5A4-8A05-3F3C6050643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2387" y="4698342"/>
                <a:ext cx="760333" cy="700764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5BC33A4E-6698-3259-757E-B059A62D824B}"/>
              </a:ext>
            </a:extLst>
          </p:cNvPr>
          <p:cNvSpPr>
            <a:spLocks noChangeAspect="1"/>
          </p:cNvSpPr>
          <p:nvPr/>
        </p:nvSpPr>
        <p:spPr>
          <a:xfrm>
            <a:off x="2570932" y="3735990"/>
            <a:ext cx="760333" cy="7007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C9C855-7924-CF90-B374-3BE490A79CAF}"/>
                  </a:ext>
                </a:extLst>
              </p:cNvPr>
              <p:cNvSpPr txBox="1"/>
              <p:nvPr/>
            </p:nvSpPr>
            <p:spPr>
              <a:xfrm>
                <a:off x="2801975" y="3907981"/>
                <a:ext cx="34842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90C9C855-7924-CF90-B374-3BE490A79C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1975" y="3907981"/>
                <a:ext cx="348429" cy="307777"/>
              </a:xfrm>
              <a:prstGeom prst="rect">
                <a:avLst/>
              </a:prstGeom>
              <a:blipFill>
                <a:blip r:embed="rId15"/>
                <a:stretch>
                  <a:fillRect l="-13793"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2718F9E7-0FFB-EF00-F6ED-A8212C44F367}"/>
              </a:ext>
            </a:extLst>
          </p:cNvPr>
          <p:cNvSpPr/>
          <p:nvPr/>
        </p:nvSpPr>
        <p:spPr>
          <a:xfrm>
            <a:off x="4541898" y="4890464"/>
            <a:ext cx="301841" cy="3018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890CC563-7CB0-768D-031A-4E62AEBBE7DF}"/>
              </a:ext>
            </a:extLst>
          </p:cNvPr>
          <p:cNvCxnSpPr>
            <a:cxnSpLocks/>
            <a:stCxn id="59" idx="3"/>
            <a:endCxn id="62" idx="2"/>
          </p:cNvCxnSpPr>
          <p:nvPr/>
        </p:nvCxnSpPr>
        <p:spPr>
          <a:xfrm flipV="1">
            <a:off x="4042720" y="5041384"/>
            <a:ext cx="499178" cy="73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D27DCD83-D931-495A-084E-516074585F3B}"/>
              </a:ext>
            </a:extLst>
          </p:cNvPr>
          <p:cNvCxnSpPr>
            <a:stCxn id="56" idx="3"/>
            <a:endCxn id="58" idx="1"/>
          </p:cNvCxnSpPr>
          <p:nvPr/>
        </p:nvCxnSpPr>
        <p:spPr>
          <a:xfrm>
            <a:off x="1361460" y="4564435"/>
            <a:ext cx="692329" cy="49262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8371FD37-9D7A-29E9-8F6C-BA5A9572F73D}"/>
              </a:ext>
            </a:extLst>
          </p:cNvPr>
          <p:cNvCxnSpPr>
            <a:cxnSpLocks/>
            <a:stCxn id="56" idx="3"/>
            <a:endCxn id="60" idx="1"/>
          </p:cNvCxnSpPr>
          <p:nvPr/>
        </p:nvCxnSpPr>
        <p:spPr>
          <a:xfrm flipV="1">
            <a:off x="1361460" y="4086372"/>
            <a:ext cx="1209472" cy="47806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3D8D47BD-1C0B-E7A1-35AF-07E75B05DB4D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3331265" y="4086372"/>
            <a:ext cx="1361554" cy="80409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9ACA8CD0-31F8-C4D0-7826-BFD7FB8791C3}"/>
              </a:ext>
            </a:extLst>
          </p:cNvPr>
          <p:cNvCxnSpPr>
            <a:cxnSpLocks/>
          </p:cNvCxnSpPr>
          <p:nvPr/>
        </p:nvCxnSpPr>
        <p:spPr>
          <a:xfrm>
            <a:off x="4879083" y="5026881"/>
            <a:ext cx="484101" cy="0"/>
          </a:xfrm>
          <a:prstGeom prst="straightConnector1">
            <a:avLst/>
          </a:prstGeom>
          <a:ln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61FC87-B74E-B8DC-9490-6D1DCA208FD7}"/>
                  </a:ext>
                </a:extLst>
              </p:cNvPr>
              <p:cNvSpPr txBox="1"/>
              <p:nvPr/>
            </p:nvSpPr>
            <p:spPr>
              <a:xfrm>
                <a:off x="5030975" y="4610601"/>
                <a:ext cx="362607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0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3061FC87-B74E-B8DC-9490-6D1DCA208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0975" y="4610601"/>
                <a:ext cx="362607" cy="400110"/>
              </a:xfrm>
              <a:prstGeom prst="rect">
                <a:avLst/>
              </a:prstGeom>
              <a:blipFill>
                <a:blip r:embed="rId16"/>
                <a:stretch>
                  <a:fillRect r="-86207" b="-121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2B81DAC6-9AC1-A503-DBD9-EF242C2CD950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 flipV="1">
            <a:off x="2871932" y="6073477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F42DCE3-A866-AA9A-59E4-F0C41477A37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11599" y="5731429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1600" dirty="0"/>
              </a:p>
              <a:p>
                <a:pPr algn="ctr"/>
                <a:endParaRPr lang="en-US" sz="1600" dirty="0"/>
              </a:p>
            </p:txBody>
          </p:sp>
        </mc:Choice>
        <mc:Fallback xmlns="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BF42DCE3-A866-AA9A-59E4-F0C41477A3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1599" y="5731429"/>
                <a:ext cx="760333" cy="700764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5128EE-686F-3846-221F-995C7FA6EF8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340197" y="5723095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85128EE-686F-3846-221F-995C7FA6EF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197" y="5723095"/>
                <a:ext cx="760333" cy="700764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E0308B6C-BEEC-08B5-D0EC-7FEB545BE77E}"/>
              </a:ext>
            </a:extLst>
          </p:cNvPr>
          <p:cNvCxnSpPr>
            <a:cxnSpLocks/>
            <a:stCxn id="71" idx="3"/>
            <a:endCxn id="62" idx="4"/>
          </p:cNvCxnSpPr>
          <p:nvPr/>
        </p:nvCxnSpPr>
        <p:spPr>
          <a:xfrm flipV="1">
            <a:off x="4100530" y="5192304"/>
            <a:ext cx="592289" cy="88117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C218A7FA-80DF-35A2-F5EA-E9D95C7F692E}"/>
              </a:ext>
            </a:extLst>
          </p:cNvPr>
          <p:cNvCxnSpPr>
            <a:cxnSpLocks/>
            <a:stCxn id="56" idx="3"/>
            <a:endCxn id="70" idx="1"/>
          </p:cNvCxnSpPr>
          <p:nvPr/>
        </p:nvCxnSpPr>
        <p:spPr>
          <a:xfrm>
            <a:off x="1361460" y="4564435"/>
            <a:ext cx="750139" cy="151737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3D7FC18F-E664-27A5-5FA9-D10E52F0CACD}"/>
              </a:ext>
            </a:extLst>
          </p:cNvPr>
          <p:cNvSpPr txBox="1"/>
          <p:nvPr/>
        </p:nvSpPr>
        <p:spPr>
          <a:xfrm>
            <a:off x="627368" y="2644621"/>
            <a:ext cx="13388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 Control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71CF919B-38C0-60B3-3AE3-B9D5557CF55A}"/>
              </a:ext>
            </a:extLst>
          </p:cNvPr>
          <p:cNvSpPr txBox="1"/>
          <p:nvPr/>
        </p:nvSpPr>
        <p:spPr>
          <a:xfrm>
            <a:off x="5581305" y="829643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7A56A0E4-E9D1-3C98-1F5D-90EC02EE6C51}"/>
              </a:ext>
            </a:extLst>
          </p:cNvPr>
          <p:cNvSpPr txBox="1"/>
          <p:nvPr/>
        </p:nvSpPr>
        <p:spPr>
          <a:xfrm>
            <a:off x="2167252" y="3167266"/>
            <a:ext cx="15953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PID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EF7244-4D68-2898-A919-B473743D49F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612942" y="265216"/>
            <a:ext cx="3073858" cy="8790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02BCC6-BBB3-0D76-5D3D-0988637DDAB6}"/>
              </a:ext>
            </a:extLst>
          </p:cNvPr>
          <p:cNvSpPr txBox="1"/>
          <p:nvPr/>
        </p:nvSpPr>
        <p:spPr>
          <a:xfrm>
            <a:off x="5794700" y="3438349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</p:spTree>
    <p:extLst>
      <p:ext uri="{BB962C8B-B14F-4D97-AF65-F5344CB8AC3E}">
        <p14:creationId xmlns:p14="http://schemas.microsoft.com/office/powerpoint/2010/main" val="2078152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0" grpId="0"/>
      <p:bldP spid="21" grpId="0" animBg="1"/>
      <p:bldP spid="22" grpId="0" animBg="1"/>
      <p:bldP spid="23" grpId="0" animBg="1"/>
      <p:bldP spid="25" grpId="0" animBg="1"/>
      <p:bldP spid="26" grpId="0"/>
      <p:bldP spid="31" grpId="0" animBg="1"/>
      <p:bldP spid="51" grpId="0"/>
      <p:bldP spid="54" grpId="0"/>
      <p:bldP spid="56" grpId="0"/>
      <p:bldP spid="57" grpId="0" animBg="1"/>
      <p:bldP spid="58" grpId="0" animBg="1"/>
      <p:bldP spid="59" grpId="0" animBg="1"/>
      <p:bldP spid="60" grpId="0" animBg="1"/>
      <p:bldP spid="61" grpId="0"/>
      <p:bldP spid="62" grpId="0" animBg="1"/>
      <p:bldP spid="68" grpId="0"/>
      <p:bldP spid="70" grpId="0" animBg="1"/>
      <p:bldP spid="71" grpId="0" animBg="1"/>
      <p:bldP spid="78" grpId="0"/>
      <p:bldP spid="79" grpId="0"/>
      <p:bldP spid="80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FE2C5-D308-EB32-7165-5374EC15D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7DE9A-6C3D-2C98-78CD-B6AD8A77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0"/>
            <a:ext cx="4724400" cy="838200"/>
          </a:xfrm>
        </p:spPr>
        <p:txBody>
          <a:bodyPr/>
          <a:lstStyle/>
          <a:p>
            <a:r>
              <a:rPr lang="en-US" dirty="0"/>
              <a:t>Common Controllers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5F66BC-5977-8516-A1ED-333CE5E2BFC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85551FF-933F-D6C0-9B21-9DD7768A63FA}"/>
                  </a:ext>
                </a:extLst>
              </p:cNvPr>
              <p:cNvSpPr txBox="1"/>
              <p:nvPr/>
            </p:nvSpPr>
            <p:spPr>
              <a:xfrm>
                <a:off x="4691862" y="3187100"/>
                <a:ext cx="503919" cy="46410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85551FF-933F-D6C0-9B21-9DD7768A63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1862" y="3187100"/>
                <a:ext cx="503919" cy="464101"/>
              </a:xfrm>
              <a:prstGeom prst="rect">
                <a:avLst/>
              </a:prstGeom>
              <a:blipFill>
                <a:blip r:embed="rId2"/>
                <a:stretch>
                  <a:fillRect l="-15000" r="-5000" b="-189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B51EFC77-35E5-81DE-86D4-6C87CAA9E81D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3760053" y="3404020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>
            <a:extLst>
              <a:ext uri="{FF2B5EF4-FFF2-40B4-BE49-F238E27FC236}">
                <a16:creationId xmlns:a16="http://schemas.microsoft.com/office/drawing/2014/main" id="{426D2CE2-119F-458E-9B69-6A8A5D4302F5}"/>
              </a:ext>
            </a:extLst>
          </p:cNvPr>
          <p:cNvSpPr/>
          <p:nvPr/>
        </p:nvSpPr>
        <p:spPr>
          <a:xfrm>
            <a:off x="2405347" y="2123090"/>
            <a:ext cx="3506423" cy="2659117"/>
          </a:xfrm>
          <a:prstGeom prst="rect">
            <a:avLst/>
          </a:prstGeom>
          <a:noFill/>
          <a:ln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2F0C0B2-E3AC-23DD-AA06-D9BBA87BE20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999720" y="3061972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/>
                      </m:nary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82F0C0B2-E3AC-23DD-AA06-D9BBA87BE2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9720" y="3061972"/>
                <a:ext cx="760333" cy="70076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CB3EA9-3BBD-AB2E-CBB0-CD2675F0CC2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28318" y="3053638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51CB3EA9-3BBD-AB2E-CBB0-CD2675F0CC2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8318" y="3053638"/>
                <a:ext cx="760333" cy="70076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Rectangle 59">
            <a:extLst>
              <a:ext uri="{FF2B5EF4-FFF2-40B4-BE49-F238E27FC236}">
                <a16:creationId xmlns:a16="http://schemas.microsoft.com/office/drawing/2014/main" id="{FEB68375-4847-7929-E4A7-F5CCC1D73AA1}"/>
              </a:ext>
            </a:extLst>
          </p:cNvPr>
          <p:cNvSpPr>
            <a:spLocks noChangeAspect="1"/>
          </p:cNvSpPr>
          <p:nvPr/>
        </p:nvSpPr>
        <p:spPr>
          <a:xfrm>
            <a:off x="3516863" y="2238426"/>
            <a:ext cx="760333" cy="70076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AD79640-0F47-C8D3-C56C-F62BCE10C26C}"/>
                  </a:ext>
                </a:extLst>
              </p:cNvPr>
              <p:cNvSpPr txBox="1"/>
              <p:nvPr/>
            </p:nvSpPr>
            <p:spPr>
              <a:xfrm>
                <a:off x="3747906" y="2294807"/>
                <a:ext cx="48910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sub>
                      </m:sSub>
                    </m:oMath>
                  </m:oMathPara>
                </a14:m>
                <a:endParaRPr lang="en-US" sz="1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AAD79640-0F47-C8D3-C56C-F62BCE10C2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7906" y="2294807"/>
                <a:ext cx="489108" cy="430887"/>
              </a:xfrm>
              <a:prstGeom prst="rect">
                <a:avLst/>
              </a:prstGeom>
              <a:blipFill>
                <a:blip r:embed="rId5"/>
                <a:stretch>
                  <a:fillRect l="-17949" r="-256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Oval 61">
            <a:extLst>
              <a:ext uri="{FF2B5EF4-FFF2-40B4-BE49-F238E27FC236}">
                <a16:creationId xmlns:a16="http://schemas.microsoft.com/office/drawing/2014/main" id="{75B28D20-C9CD-02C5-BB11-741FCB2999BC}"/>
              </a:ext>
            </a:extLst>
          </p:cNvPr>
          <p:cNvSpPr/>
          <p:nvPr/>
        </p:nvSpPr>
        <p:spPr>
          <a:xfrm>
            <a:off x="5487829" y="3245760"/>
            <a:ext cx="301841" cy="301840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+</a:t>
            </a:r>
          </a:p>
        </p:txBody>
      </p:sp>
      <p:cxnSp>
        <p:nvCxnSpPr>
          <p:cNvPr id="63" name="Elbow Connector 62">
            <a:extLst>
              <a:ext uri="{FF2B5EF4-FFF2-40B4-BE49-F238E27FC236}">
                <a16:creationId xmlns:a16="http://schemas.microsoft.com/office/drawing/2014/main" id="{F266B96C-4FD9-A6C0-576F-8821ABC36DD7}"/>
              </a:ext>
            </a:extLst>
          </p:cNvPr>
          <p:cNvCxnSpPr>
            <a:cxnSpLocks/>
            <a:stCxn id="59" idx="3"/>
            <a:endCxn id="62" idx="2"/>
          </p:cNvCxnSpPr>
          <p:nvPr/>
        </p:nvCxnSpPr>
        <p:spPr>
          <a:xfrm flipV="1">
            <a:off x="4988651" y="3396680"/>
            <a:ext cx="499178" cy="734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Elbow Connector 63">
            <a:extLst>
              <a:ext uri="{FF2B5EF4-FFF2-40B4-BE49-F238E27FC236}">
                <a16:creationId xmlns:a16="http://schemas.microsoft.com/office/drawing/2014/main" id="{3F474ADF-519C-F117-8F57-38EA8B1B7F48}"/>
              </a:ext>
            </a:extLst>
          </p:cNvPr>
          <p:cNvCxnSpPr>
            <a:cxnSpLocks/>
            <a:endCxn id="58" idx="1"/>
          </p:cNvCxnSpPr>
          <p:nvPr/>
        </p:nvCxnSpPr>
        <p:spPr>
          <a:xfrm>
            <a:off x="2307391" y="2919731"/>
            <a:ext cx="692329" cy="492623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66985A63-38F2-903C-9029-90C8B01B8C4A}"/>
              </a:ext>
            </a:extLst>
          </p:cNvPr>
          <p:cNvCxnSpPr>
            <a:cxnSpLocks/>
            <a:endCxn id="60" idx="1"/>
          </p:cNvCxnSpPr>
          <p:nvPr/>
        </p:nvCxnSpPr>
        <p:spPr>
          <a:xfrm flipV="1">
            <a:off x="2307391" y="2588808"/>
            <a:ext cx="1209472" cy="362453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Elbow Connector 65">
            <a:extLst>
              <a:ext uri="{FF2B5EF4-FFF2-40B4-BE49-F238E27FC236}">
                <a16:creationId xmlns:a16="http://schemas.microsoft.com/office/drawing/2014/main" id="{D149AB15-3935-9DBC-A628-769DA7401C1B}"/>
              </a:ext>
            </a:extLst>
          </p:cNvPr>
          <p:cNvCxnSpPr>
            <a:cxnSpLocks/>
            <a:stCxn id="60" idx="3"/>
            <a:endCxn id="62" idx="0"/>
          </p:cNvCxnSpPr>
          <p:nvPr/>
        </p:nvCxnSpPr>
        <p:spPr>
          <a:xfrm>
            <a:off x="4277196" y="2588808"/>
            <a:ext cx="1361554" cy="656952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D52EEFEF-03B4-D041-805D-4861E95F9870}"/>
              </a:ext>
            </a:extLst>
          </p:cNvPr>
          <p:cNvCxnSpPr>
            <a:cxnSpLocks/>
          </p:cNvCxnSpPr>
          <p:nvPr/>
        </p:nvCxnSpPr>
        <p:spPr>
          <a:xfrm>
            <a:off x="5825014" y="3382177"/>
            <a:ext cx="484101" cy="0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0DAC3AE1-9260-24A0-7AAE-D406BE7F50BF}"/>
              </a:ext>
            </a:extLst>
          </p:cNvPr>
          <p:cNvCxnSpPr>
            <a:cxnSpLocks/>
            <a:stCxn id="70" idx="3"/>
            <a:endCxn id="71" idx="1"/>
          </p:cNvCxnSpPr>
          <p:nvPr/>
        </p:nvCxnSpPr>
        <p:spPr>
          <a:xfrm flipV="1">
            <a:off x="3817863" y="4271123"/>
            <a:ext cx="468265" cy="8334"/>
          </a:xfrm>
          <a:prstGeom prst="straightConnector1">
            <a:avLst/>
          </a:prstGeom>
          <a:ln>
            <a:solidFill>
              <a:srgbClr val="FF0000"/>
            </a:solidFill>
            <a:tailEnd type="triangle" w="lg" len="lg"/>
          </a:ln>
          <a:effectLst>
            <a:outerShdw dist="20000" sx="1000" sy="1000" rotWithShape="0">
              <a:srgbClr val="000000"/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93AF722-07F2-6F3B-9EEC-870F60DEF9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3057530" y="3929075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000" dirty="0"/>
              </a:p>
              <a:p>
                <a:pPr algn="ctr"/>
                <a:endParaRPr lang="en-US" sz="2000" dirty="0"/>
              </a:p>
            </p:txBody>
          </p:sp>
        </mc:Choice>
        <mc:Fallback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893AF722-07F2-6F3B-9EEC-870F60DEF9D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530" y="3929075"/>
                <a:ext cx="760333" cy="700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00B07AD-CDDB-463D-7D4C-5B6E3DC86FD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286128" y="3920741"/>
                <a:ext cx="760333" cy="700764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C00B07AD-CDDB-463D-7D4C-5B6E3DC86F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6128" y="3920741"/>
                <a:ext cx="760333" cy="7007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Elbow Connector 71">
            <a:extLst>
              <a:ext uri="{FF2B5EF4-FFF2-40B4-BE49-F238E27FC236}">
                <a16:creationId xmlns:a16="http://schemas.microsoft.com/office/drawing/2014/main" id="{EECEA946-90C7-9F62-944A-237C4F0D1BFA}"/>
              </a:ext>
            </a:extLst>
          </p:cNvPr>
          <p:cNvCxnSpPr>
            <a:cxnSpLocks/>
            <a:stCxn id="71" idx="3"/>
            <a:endCxn id="62" idx="4"/>
          </p:cNvCxnSpPr>
          <p:nvPr/>
        </p:nvCxnSpPr>
        <p:spPr>
          <a:xfrm flipV="1">
            <a:off x="5046461" y="3547600"/>
            <a:ext cx="592289" cy="723523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Elbow Connector 72">
            <a:extLst>
              <a:ext uri="{FF2B5EF4-FFF2-40B4-BE49-F238E27FC236}">
                <a16:creationId xmlns:a16="http://schemas.microsoft.com/office/drawing/2014/main" id="{8E7EAC89-5A79-0C2C-EE18-3A8C8EC16311}"/>
              </a:ext>
            </a:extLst>
          </p:cNvPr>
          <p:cNvCxnSpPr>
            <a:cxnSpLocks/>
            <a:endCxn id="70" idx="1"/>
          </p:cNvCxnSpPr>
          <p:nvPr/>
        </p:nvCxnSpPr>
        <p:spPr>
          <a:xfrm>
            <a:off x="2307391" y="2919731"/>
            <a:ext cx="750139" cy="1359726"/>
          </a:xfrm>
          <a:prstGeom prst="bentConnector3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3FEECB28-F065-B1C5-804C-4EC00403FE29}"/>
              </a:ext>
            </a:extLst>
          </p:cNvPr>
          <p:cNvSpPr txBox="1"/>
          <p:nvPr/>
        </p:nvSpPr>
        <p:spPr>
          <a:xfrm>
            <a:off x="5581305" y="829643"/>
            <a:ext cx="140936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PI Control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EC3C5AB-9DA9-F819-1B74-11C2056B4196}"/>
              </a:ext>
            </a:extLst>
          </p:cNvPr>
          <p:cNvSpPr txBox="1"/>
          <p:nvPr/>
        </p:nvSpPr>
        <p:spPr>
          <a:xfrm>
            <a:off x="3102776" y="1632930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PID Control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03BE91-D6EB-8D0A-6D84-702D83C80F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12942" y="265216"/>
            <a:ext cx="3073858" cy="879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0152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 animBg="1"/>
      <p:bldP spid="58" grpId="0" animBg="1"/>
      <p:bldP spid="59" grpId="0" animBg="1"/>
      <p:bldP spid="60" grpId="0" animBg="1"/>
      <p:bldP spid="61" grpId="0"/>
      <p:bldP spid="62" grpId="0" animBg="1"/>
      <p:bldP spid="70" grpId="0" animBg="1"/>
      <p:bldP spid="71" grpId="0" animBg="1"/>
      <p:bldP spid="79" grpId="0"/>
      <p:bldP spid="8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A89CC9-1BD3-2ED6-0F20-42F8A8CD2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930D1A-2708-CDEE-DFB8-FB3A42CDB1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D8A4C55-8DAA-A526-1C1E-20247FD85167}"/>
              </a:ext>
            </a:extLst>
          </p:cNvPr>
          <p:cNvGrpSpPr/>
          <p:nvPr/>
        </p:nvGrpSpPr>
        <p:grpSpPr>
          <a:xfrm>
            <a:off x="5559855" y="328181"/>
            <a:ext cx="3126945" cy="832348"/>
            <a:chOff x="5559855" y="464811"/>
            <a:chExt cx="3126945" cy="832348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462A59E0-42A0-4BE3-F11F-9D10C440792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66199" y="678723"/>
              <a:ext cx="351632" cy="27534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700" dirty="0"/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E8BF21C-973D-7C1B-6FD1-F49DA6F58EC0}"/>
                </a:ext>
              </a:extLst>
            </p:cNvPr>
            <p:cNvCxnSpPr>
              <a:cxnSpLocks/>
              <a:stCxn id="9" idx="3"/>
              <a:endCxn id="19" idx="2"/>
            </p:cNvCxnSpPr>
            <p:nvPr/>
          </p:nvCxnSpPr>
          <p:spPr>
            <a:xfrm>
              <a:off x="6913517" y="812688"/>
              <a:ext cx="224909" cy="4375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AD6423F-20F2-C7EE-FC74-719CC6FE9E4C}"/>
                </a:ext>
              </a:extLst>
            </p:cNvPr>
            <p:cNvCxnSpPr>
              <a:cxnSpLocks/>
              <a:stCxn id="8" idx="3"/>
              <a:endCxn id="14" idx="2"/>
            </p:cNvCxnSpPr>
            <p:nvPr/>
          </p:nvCxnSpPr>
          <p:spPr>
            <a:xfrm flipV="1">
              <a:off x="7825353" y="805078"/>
              <a:ext cx="223205" cy="5072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000978-9953-5032-FD1B-747A2B507DB0}"/>
                    </a:ext>
                  </a:extLst>
                </p:cNvPr>
                <p:cNvSpPr/>
                <p:nvPr/>
              </p:nvSpPr>
              <p:spPr>
                <a:xfrm>
                  <a:off x="7436300" y="717817"/>
                  <a:ext cx="389053" cy="18466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600" b="1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𝑶𝑳𝑺</m:t>
                        </m:r>
                      </m:oMath>
                    </m:oMathPara>
                  </a14:m>
                  <a:endParaRPr lang="en-US" sz="6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4000978-9953-5032-FD1B-747A2B507DB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36300" y="717817"/>
                  <a:ext cx="389053" cy="184666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9B73C0-11F5-A42F-4A2F-1ED287C43E9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00536" y="675017"/>
              <a:ext cx="612981" cy="27534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Controller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79659DC-3D7D-56D4-7481-82A2AEFE01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59855" y="825946"/>
              <a:ext cx="352360" cy="165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D2A3191C-C287-B523-96B0-8366EB809B5D}"/>
                </a:ext>
              </a:extLst>
            </p:cNvPr>
            <p:cNvSpPr/>
            <p:nvPr/>
          </p:nvSpPr>
          <p:spPr>
            <a:xfrm>
              <a:off x="5922713" y="750872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51E45708-7919-B1A6-2202-5B6539133FDC}"/>
                </a:ext>
              </a:extLst>
            </p:cNvPr>
            <p:cNvCxnSpPr>
              <a:cxnSpLocks/>
              <a:stCxn id="17" idx="1"/>
              <a:endCxn id="11" idx="4"/>
            </p:cNvCxnSpPr>
            <p:nvPr/>
          </p:nvCxnSpPr>
          <p:spPr>
            <a:xfrm rot="10800000">
              <a:off x="6005174" y="881763"/>
              <a:ext cx="789563" cy="277726"/>
            </a:xfrm>
            <a:prstGeom prst="bentConnector2">
              <a:avLst/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0DC537F-798E-6435-93F0-6AD29444C657}"/>
                </a:ext>
              </a:extLst>
            </p:cNvPr>
            <p:cNvCxnSpPr>
              <a:cxnSpLocks/>
              <a:stCxn id="11" idx="6"/>
              <a:endCxn id="9" idx="1"/>
            </p:cNvCxnSpPr>
            <p:nvPr/>
          </p:nvCxnSpPr>
          <p:spPr>
            <a:xfrm flipV="1">
              <a:off x="6087633" y="812688"/>
              <a:ext cx="212903" cy="3630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E0CB951-DB44-3AE4-44C8-7D0199E867B2}"/>
                </a:ext>
              </a:extLst>
            </p:cNvPr>
            <p:cNvSpPr/>
            <p:nvPr/>
          </p:nvSpPr>
          <p:spPr>
            <a:xfrm>
              <a:off x="8048558" y="739633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DF71958B-2486-6A34-B9E5-5F503F9AF6FB}"/>
                </a:ext>
              </a:extLst>
            </p:cNvPr>
            <p:cNvCxnSpPr>
              <a:cxnSpLocks/>
              <a:stCxn id="14" idx="6"/>
            </p:cNvCxnSpPr>
            <p:nvPr/>
          </p:nvCxnSpPr>
          <p:spPr>
            <a:xfrm flipV="1">
              <a:off x="8213479" y="801469"/>
              <a:ext cx="473321" cy="3609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93C5096-77E5-C2C3-9A63-06AE7FA4A074}"/>
                </a:ext>
              </a:extLst>
            </p:cNvPr>
            <p:cNvCxnSpPr>
              <a:cxnSpLocks/>
              <a:endCxn id="14" idx="0"/>
            </p:cNvCxnSpPr>
            <p:nvPr/>
          </p:nvCxnSpPr>
          <p:spPr>
            <a:xfrm flipH="1">
              <a:off x="8131019" y="497906"/>
              <a:ext cx="3474" cy="241728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916D0DD-135F-9F5E-782B-FA32947C738E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6794736" y="1021819"/>
                  <a:ext cx="351632" cy="275340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7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Filter</m:t>
                        </m:r>
                      </m:oMath>
                    </m:oMathPara>
                  </a14:m>
                  <a:endParaRPr lang="en-US" sz="7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916D0DD-135F-9F5E-782B-FA32947C73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4736" y="1021819"/>
                  <a:ext cx="351632" cy="27534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748C4D23-385C-26E2-AF7F-2AE865A9A8E5}"/>
                </a:ext>
              </a:extLst>
            </p:cNvPr>
            <p:cNvCxnSpPr>
              <a:cxnSpLocks/>
              <a:stCxn id="14" idx="4"/>
              <a:endCxn id="17" idx="3"/>
            </p:cNvCxnSpPr>
            <p:nvPr/>
          </p:nvCxnSpPr>
          <p:spPr>
            <a:xfrm rot="5400000">
              <a:off x="7494210" y="522681"/>
              <a:ext cx="288965" cy="984650"/>
            </a:xfrm>
            <a:prstGeom prst="bentConnector2">
              <a:avLst/>
            </a:prstGeom>
            <a:ln w="19050"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BC2C41-8EF7-3038-7BD6-5254F5714C29}"/>
                </a:ext>
              </a:extLst>
            </p:cNvPr>
            <p:cNvSpPr/>
            <p:nvPr/>
          </p:nvSpPr>
          <p:spPr>
            <a:xfrm>
              <a:off x="7138427" y="751617"/>
              <a:ext cx="164920" cy="13089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00" dirty="0"/>
                <a:t>+</a:t>
              </a: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C9BDDB25-D36D-7B19-528C-94D5B0D88ED2}"/>
                </a:ext>
              </a:extLst>
            </p:cNvPr>
            <p:cNvCxnSpPr>
              <a:cxnSpLocks/>
              <a:endCxn id="19" idx="0"/>
            </p:cNvCxnSpPr>
            <p:nvPr/>
          </p:nvCxnSpPr>
          <p:spPr>
            <a:xfrm flipH="1">
              <a:off x="7220887" y="464811"/>
              <a:ext cx="2509" cy="286806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7C1B6DE-C1CB-FB9B-7525-45E73FFCFF02}"/>
                </a:ext>
              </a:extLst>
            </p:cNvPr>
            <p:cNvCxnSpPr>
              <a:cxnSpLocks/>
              <a:stCxn id="19" idx="6"/>
              <a:endCxn id="5" idx="1"/>
            </p:cNvCxnSpPr>
            <p:nvPr/>
          </p:nvCxnSpPr>
          <p:spPr>
            <a:xfrm flipV="1">
              <a:off x="7303347" y="816394"/>
              <a:ext cx="162851" cy="669"/>
            </a:xfrm>
            <a:prstGeom prst="straightConnector1">
              <a:avLst/>
            </a:prstGeom>
            <a:ln>
              <a:tailEnd type="triangle" w="lg" len="lg"/>
            </a:ln>
            <a:effectLst>
              <a:outerShdw dist="20000" sx="1000" sy="1000" rotWithShape="0">
                <a:srgbClr val="000000"/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265355A-3A09-D37A-B366-223FA58A7EAB}"/>
                </a:ext>
              </a:extLst>
            </p:cNvPr>
            <p:cNvSpPr txBox="1"/>
            <p:nvPr/>
          </p:nvSpPr>
          <p:spPr>
            <a:xfrm>
              <a:off x="5790226" y="901666"/>
              <a:ext cx="2439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-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14E499A8-FA1E-FBB5-0095-E24C1FA991E7}"/>
              </a:ext>
            </a:extLst>
          </p:cNvPr>
          <p:cNvSpPr txBox="1"/>
          <p:nvPr/>
        </p:nvSpPr>
        <p:spPr>
          <a:xfrm>
            <a:off x="415160" y="1061928"/>
            <a:ext cx="1792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Discrete time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C775F85-E938-2860-3062-092060E92389}"/>
              </a:ext>
            </a:extLst>
          </p:cNvPr>
          <p:cNvSpPr txBox="1"/>
          <p:nvPr/>
        </p:nvSpPr>
        <p:spPr>
          <a:xfrm>
            <a:off x="388880" y="3716928"/>
            <a:ext cx="41585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Continuous time state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DC5C72-0192-2412-D6F4-FC11E6FA7BF0}"/>
                  </a:ext>
                </a:extLst>
              </p:cNvPr>
              <p:cNvSpPr txBox="1"/>
              <p:nvPr/>
            </p:nvSpPr>
            <p:spPr>
              <a:xfrm>
                <a:off x="415160" y="4174303"/>
                <a:ext cx="176618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2DC5C72-0192-2412-D6F4-FC11E6FA7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160" y="4174303"/>
                <a:ext cx="1766189" cy="307777"/>
              </a:xfrm>
              <a:prstGeom prst="rect">
                <a:avLst/>
              </a:prstGeom>
              <a:blipFill>
                <a:blip r:embed="rId4"/>
                <a:stretch>
                  <a:fillRect l="-2143" b="-2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90F67A-B7AF-2189-8EB5-FAC530B7F896}"/>
                  </a:ext>
                </a:extLst>
              </p:cNvPr>
              <p:cNvSpPr txBox="1"/>
              <p:nvPr/>
            </p:nvSpPr>
            <p:spPr>
              <a:xfrm>
                <a:off x="430440" y="1498828"/>
                <a:ext cx="4078168" cy="36638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−1)</m:t>
                          </m:r>
                        </m:e>
                        <m:sub/>
                        <m:sup/>
                      </m:sSubSup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6390F67A-B7AF-2189-8EB5-FAC530B7F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440" y="1498828"/>
                <a:ext cx="4078168" cy="366382"/>
              </a:xfrm>
              <a:prstGeom prst="rect">
                <a:avLst/>
              </a:prstGeom>
              <a:blipFill>
                <a:blip r:embed="rId5"/>
                <a:stretch>
                  <a:fillRect l="-932" b="-275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Picture 26">
            <a:extLst>
              <a:ext uri="{FF2B5EF4-FFF2-40B4-BE49-F238E27FC236}">
                <a16:creationId xmlns:a16="http://schemas.microsoft.com/office/drawing/2014/main" id="{05FF9F74-47F8-F861-F8F6-51F07267AA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309641"/>
            <a:ext cx="3974861" cy="39495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58148-6D86-35BE-2A83-CAF8F1037C8C}"/>
                  </a:ext>
                </a:extLst>
              </p:cNvPr>
              <p:cNvSpPr txBox="1"/>
              <p:nvPr/>
            </p:nvSpPr>
            <p:spPr>
              <a:xfrm>
                <a:off x="3030568" y="4174303"/>
                <a:ext cx="82317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FC58148-6D86-35BE-2A83-CAF8F1037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0568" y="4174303"/>
                <a:ext cx="823174" cy="307777"/>
              </a:xfrm>
              <a:prstGeom prst="rect">
                <a:avLst/>
              </a:prstGeom>
              <a:blipFill>
                <a:blip r:embed="rId7"/>
                <a:stretch>
                  <a:fillRect l="-6061" r="-6061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679C4C-171E-F7B2-F3B4-7C37906F6F82}"/>
                  </a:ext>
                </a:extLst>
              </p:cNvPr>
              <p:cNvSpPr txBox="1"/>
              <p:nvPr/>
            </p:nvSpPr>
            <p:spPr>
              <a:xfrm>
                <a:off x="1246048" y="1929935"/>
                <a:ext cx="11662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∈[0,1]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B679C4C-171E-F7B2-F3B4-7C37906F6F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048" y="1929935"/>
                <a:ext cx="1166217" cy="307777"/>
              </a:xfrm>
              <a:prstGeom prst="rect">
                <a:avLst/>
              </a:prstGeom>
              <a:blipFill>
                <a:blip r:embed="rId8"/>
                <a:stretch>
                  <a:fillRect l="-3191" r="-5319" b="-3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24AD04A6-0BBE-918D-34F1-33367BB2C8F6}"/>
              </a:ext>
            </a:extLst>
          </p:cNvPr>
          <p:cNvSpPr txBox="1"/>
          <p:nvPr/>
        </p:nvSpPr>
        <p:spPr>
          <a:xfrm>
            <a:off x="4281180" y="5359172"/>
            <a:ext cx="3767378" cy="10156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Rule of thumb: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small </a:t>
            </a:r>
            <a:r>
              <a:rPr lang="en-US" sz="2000" i="1" dirty="0" err="1"/>
              <a:t>k</a:t>
            </a:r>
            <a:r>
              <a:rPr lang="en-US" sz="2000" i="1" baseline="-25000" dirty="0" err="1"/>
              <a:t>F</a:t>
            </a:r>
            <a:r>
              <a:rPr lang="en-US" sz="2000" i="1" dirty="0"/>
              <a:t> </a:t>
            </a:r>
            <a:r>
              <a:rPr lang="en-US" sz="2000" dirty="0"/>
              <a:t>for weak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Use large </a:t>
            </a:r>
            <a:r>
              <a:rPr lang="en-US" sz="2000" i="1" dirty="0" err="1"/>
              <a:t>k</a:t>
            </a:r>
            <a:r>
              <a:rPr lang="en-US" sz="2000" i="1" baseline="-25000" dirty="0" err="1"/>
              <a:t>F</a:t>
            </a:r>
            <a:r>
              <a:rPr lang="en-US" sz="2000" i="1" dirty="0"/>
              <a:t> </a:t>
            </a:r>
            <a:r>
              <a:rPr lang="en-US" sz="2000" dirty="0"/>
              <a:t>for strong signal</a:t>
            </a:r>
          </a:p>
        </p:txBody>
      </p:sp>
    </p:spTree>
    <p:extLst>
      <p:ext uri="{BB962C8B-B14F-4D97-AF65-F5344CB8AC3E}">
        <p14:creationId xmlns:p14="http://schemas.microsoft.com/office/powerpoint/2010/main" val="3537201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32" grpId="0"/>
      <p:bldP spid="33" grpId="0"/>
      <p:bldP spid="35" grpId="0"/>
      <p:bldP spid="29" grpId="0"/>
      <p:bldP spid="30" grpId="0"/>
      <p:bldP spid="3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59827</TotalTime>
  <Words>757</Words>
  <Application>Microsoft Macintosh PowerPoint</Application>
  <PresentationFormat>On-screen Show (4:3)</PresentationFormat>
  <Paragraphs>266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Cambria Math</vt:lpstr>
      <vt:lpstr>Calibri</vt:lpstr>
      <vt:lpstr>Arial</vt:lpstr>
      <vt:lpstr>Office Theme</vt:lpstr>
      <vt:lpstr>BIOE 498 / BIOE 599  Advanced Biological Control Systems   Lecture 2: Elements of Closed Loop Systems  </vt:lpstr>
      <vt:lpstr>Agenda</vt:lpstr>
      <vt:lpstr>Signals &amp; Systems</vt:lpstr>
      <vt:lpstr>Control Architecture</vt:lpstr>
      <vt:lpstr>Control Architecture Without d(t), n(t)</vt:lpstr>
      <vt:lpstr>Control Architecture Without r(t), d(t)</vt:lpstr>
      <vt:lpstr>Control Architecture Without r(t), d(t)</vt:lpstr>
      <vt:lpstr>Proportional, Integral, Differential  (PID) Controllers</vt:lpstr>
      <vt:lpstr>Proportional Control</vt:lpstr>
      <vt:lpstr>Integral Control</vt:lpstr>
      <vt:lpstr>Differential Control</vt:lpstr>
      <vt:lpstr>Common Controllers</vt:lpstr>
      <vt:lpstr>Common Controllers</vt:lpstr>
      <vt:lpstr>Filters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BIOE 437 / BIOE 537  Computational Systems Biology   Lecture 1: Introduction and Biochemistry Basics  </dc:title>
  <dc:creator>Tricia Caparas</dc:creator>
  <cp:lastModifiedBy>Joseph Hellerstein</cp:lastModifiedBy>
  <cp:revision>251</cp:revision>
  <dcterms:created xsi:type="dcterms:W3CDTF">2008-11-04T22:35:39Z</dcterms:created>
  <dcterms:modified xsi:type="dcterms:W3CDTF">2025-04-15T13:54:10Z</dcterms:modified>
</cp:coreProperties>
</file>