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9144000" cy="6858000" type="letter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4"/>
    <p:restoredTop sz="97155"/>
  </p:normalViewPr>
  <p:slideViewPr>
    <p:cSldViewPr snapToGrid="0" snapToObjects="1">
      <p:cViewPr varScale="1">
        <p:scale>
          <a:sx n="128" d="100"/>
          <a:sy n="128" d="100"/>
        </p:scale>
        <p:origin x="1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99EFE-80A9-1B44-B36B-740F601C41B3}" type="datetimeFigureOut">
              <a:rPr lang="en-US" smtClean="0"/>
              <a:t>4/30/25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4DEE1-4C34-F44F-9268-F2B890382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4547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99EFE-80A9-1B44-B36B-740F601C41B3}" type="datetimeFigureOut">
              <a:rPr lang="en-US" smtClean="0"/>
              <a:t>4/30/25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4DEE1-4C34-F44F-9268-F2B890382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397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99EFE-80A9-1B44-B36B-740F601C41B3}" type="datetimeFigureOut">
              <a:rPr lang="en-US" smtClean="0"/>
              <a:t>4/30/25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4DEE1-4C34-F44F-9268-F2B890382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6243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99EFE-80A9-1B44-B36B-740F601C41B3}" type="datetimeFigureOut">
              <a:rPr lang="en-US" smtClean="0"/>
              <a:t>4/30/25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4DEE1-4C34-F44F-9268-F2B890382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722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99EFE-80A9-1B44-B36B-740F601C41B3}" type="datetimeFigureOut">
              <a:rPr lang="en-US" smtClean="0"/>
              <a:t>4/30/25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4DEE1-4C34-F44F-9268-F2B890382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385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99EFE-80A9-1B44-B36B-740F601C41B3}" type="datetimeFigureOut">
              <a:rPr lang="en-US" smtClean="0"/>
              <a:t>4/30/25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4DEE1-4C34-F44F-9268-F2B890382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054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99EFE-80A9-1B44-B36B-740F601C41B3}" type="datetimeFigureOut">
              <a:rPr lang="en-US" smtClean="0"/>
              <a:t>4/30/25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4DEE1-4C34-F44F-9268-F2B890382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804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99EFE-80A9-1B44-B36B-740F601C41B3}" type="datetimeFigureOut">
              <a:rPr lang="en-US" smtClean="0"/>
              <a:t>4/30/25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4DEE1-4C34-F44F-9268-F2B890382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928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99EFE-80A9-1B44-B36B-740F601C41B3}" type="datetimeFigureOut">
              <a:rPr lang="en-US" smtClean="0"/>
              <a:t>4/30/25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4DEE1-4C34-F44F-9268-F2B890382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085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99EFE-80A9-1B44-B36B-740F601C41B3}" type="datetimeFigureOut">
              <a:rPr lang="en-US" smtClean="0"/>
              <a:t>4/30/25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4DEE1-4C34-F44F-9268-F2B890382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4135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99EFE-80A9-1B44-B36B-740F601C41B3}" type="datetimeFigureOut">
              <a:rPr lang="en-US" smtClean="0"/>
              <a:t>4/30/25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24DEE1-4C34-F44F-9268-F2B890382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1907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D99EFE-80A9-1B44-B36B-740F601C41B3}" type="datetimeFigureOut">
              <a:rPr lang="en-US" smtClean="0"/>
              <a:t>4/30/25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24DEE1-4C34-F44F-9268-F2B890382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3356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14" descr="Paul G Allen School Of Computer Science Logo, HD Png Download , Transparent  Png Image - PNGitem">
            <a:extLst>
              <a:ext uri="{FF2B5EF4-FFF2-40B4-BE49-F238E27FC236}">
                <a16:creationId xmlns:a16="http://schemas.microsoft.com/office/drawing/2014/main" id="{0530E922-5CA3-DC4C-AEEF-E9EFBE4F2C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3264" y="6066752"/>
            <a:ext cx="2329877" cy="69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B4FAE12-3204-1E4E-890B-0B34ABE43012}"/>
              </a:ext>
            </a:extLst>
          </p:cNvPr>
          <p:cNvSpPr txBox="1"/>
          <p:nvPr/>
        </p:nvSpPr>
        <p:spPr>
          <a:xfrm>
            <a:off x="294939" y="115990"/>
            <a:ext cx="661758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BIOEN 438/538: Biomedical Control Systems Engineering</a:t>
            </a:r>
            <a:endParaRPr lang="en-US" sz="2000" b="1" i="0" dirty="0">
              <a:solidFill>
                <a:srgbClr val="222222"/>
              </a:solidFill>
              <a:effectLst/>
              <a:highlight>
                <a:srgbClr val="FFFFFF"/>
              </a:highlight>
              <a:latin typeface="Arial" panose="020B0604020202020204" pitchFamily="34" charset="0"/>
            </a:endParaRPr>
          </a:p>
          <a:p>
            <a:r>
              <a:rPr lang="en-US" b="0" i="0" dirty="0">
                <a:solidFill>
                  <a:srgbClr val="2222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A practical approach to creating robust biological components.</a:t>
            </a:r>
            <a:r>
              <a:rPr lang="en-US" sz="2400" b="0" i="0" dirty="0">
                <a:solidFill>
                  <a:srgbClr val="2222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 </a:t>
            </a:r>
            <a:endParaRPr lang="en-US" sz="2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358B3C-177A-0A4A-9B39-95937CE66278}"/>
              </a:ext>
            </a:extLst>
          </p:cNvPr>
          <p:cNvSpPr txBox="1"/>
          <p:nvPr/>
        </p:nvSpPr>
        <p:spPr>
          <a:xfrm>
            <a:off x="294939" y="3834436"/>
            <a:ext cx="844743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Closed loop design (control engineering) is essential to building robust systems from biochemical pathways and other open loop biological components that: regulate outputs to a setpoint; ensure stability; and minimize oscillations. This course teaches the essentials of closed loop design using mechanistic models of biochemical systems. Students will acquire the following skills: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determine appropriate control objectives for a closed loop system;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characterize the time domain behavior of a biological system;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develop closed loop architectures that make use of PID controllers, filters, and techniques for compensating biochemical systems;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computational techniques for finding designs that satisfy control objectives.</a:t>
            </a:r>
          </a:p>
          <a:p>
            <a:r>
              <a:rPr lang="en-US" sz="1400" dirty="0"/>
              <a:t>Students should have prior experience with programming in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python </a:t>
            </a:r>
            <a:r>
              <a:rPr lang="en-US" sz="1400" dirty="0">
                <a:cs typeface="Courier New" panose="02070309020205020404" pitchFamily="49" charset="0"/>
              </a:rPr>
              <a:t>(e.g., BIOEN 336, 437/537).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</p:txBody>
      </p:sp>
      <p:pic>
        <p:nvPicPr>
          <p:cNvPr id="1036" name="Picture 12" descr="eScience Institute">
            <a:extLst>
              <a:ext uri="{FF2B5EF4-FFF2-40B4-BE49-F238E27FC236}">
                <a16:creationId xmlns:a16="http://schemas.microsoft.com/office/drawing/2014/main" id="{F37CE404-0691-7749-B1B3-ACD2A3B18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354" y="6199397"/>
            <a:ext cx="2614723" cy="420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University Of Washington Department Of Bioengineering - Oval, HD Png  Download - kindpng">
            <a:extLst>
              <a:ext uri="{FF2B5EF4-FFF2-40B4-BE49-F238E27FC236}">
                <a16:creationId xmlns:a16="http://schemas.microsoft.com/office/drawing/2014/main" id="{F51473F1-2E78-404D-BC6C-CF578C29AE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113" y="6164604"/>
            <a:ext cx="1530054" cy="490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9E352DE-C8BA-6A7E-4BEB-F859DF517CE0}"/>
              </a:ext>
            </a:extLst>
          </p:cNvPr>
          <p:cNvGrpSpPr/>
          <p:nvPr/>
        </p:nvGrpSpPr>
        <p:grpSpPr>
          <a:xfrm>
            <a:off x="294939" y="1758951"/>
            <a:ext cx="7486978" cy="1908667"/>
            <a:chOff x="308361" y="1114897"/>
            <a:chExt cx="8321617" cy="2601803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573808F-AE83-A14C-88E7-7020DAC01F3A}"/>
                </a:ext>
              </a:extLst>
            </p:cNvPr>
            <p:cNvSpPr/>
            <p:nvPr/>
          </p:nvSpPr>
          <p:spPr>
            <a:xfrm>
              <a:off x="308361" y="1114897"/>
              <a:ext cx="8321617" cy="2601803"/>
            </a:xfrm>
            <a:prstGeom prst="rect">
              <a:avLst/>
            </a:prstGeom>
            <a:solidFill>
              <a:srgbClr val="7030A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pic>
          <p:nvPicPr>
            <p:cNvPr id="1028" name="Picture 4" descr="Advances in management of type 1 diabetes mellitus">
              <a:extLst>
                <a:ext uri="{FF2B5EF4-FFF2-40B4-BE49-F238E27FC236}">
                  <a16:creationId xmlns:a16="http://schemas.microsoft.com/office/drawing/2014/main" id="{E8C4ED05-FD3C-B443-9E1F-00CFD40AF1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13113" y="1822637"/>
              <a:ext cx="2431680" cy="1527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Regulatory control loops of the modeled production bioreactor. The dynamics of the loops in red will be captured in our model.">
              <a:extLst>
                <a:ext uri="{FF2B5EF4-FFF2-40B4-BE49-F238E27FC236}">
                  <a16:creationId xmlns:a16="http://schemas.microsoft.com/office/drawing/2014/main" id="{3257C97D-A15E-B64C-A739-03A837C4BF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9851" y="1579362"/>
              <a:ext cx="1863017" cy="2013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7D39E13-3D0B-C442-9BB4-8DF4D73BEDDB}"/>
                </a:ext>
              </a:extLst>
            </p:cNvPr>
            <p:cNvSpPr txBox="1"/>
            <p:nvPr/>
          </p:nvSpPr>
          <p:spPr>
            <a:xfrm>
              <a:off x="6354254" y="1169902"/>
              <a:ext cx="1549939" cy="4615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</a:rPr>
                <a:t>Insulin Control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D073C2A-511F-B947-B98A-F27B468594B2}"/>
                </a:ext>
              </a:extLst>
            </p:cNvPr>
            <p:cNvSpPr txBox="1"/>
            <p:nvPr/>
          </p:nvSpPr>
          <p:spPr>
            <a:xfrm>
              <a:off x="607348" y="1169902"/>
              <a:ext cx="1911769" cy="4615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</a:rPr>
                <a:t>Bioreactor Control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1892F8D-06E0-A548-9672-E15C475FDA20}"/>
                </a:ext>
              </a:extLst>
            </p:cNvPr>
            <p:cNvSpPr txBox="1"/>
            <p:nvPr/>
          </p:nvSpPr>
          <p:spPr>
            <a:xfrm>
              <a:off x="3060551" y="1169902"/>
              <a:ext cx="2346860" cy="4615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</a:rPr>
                <a:t>Medical Device Control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18C52F0-E719-0A4B-9F04-20A54774FD17}"/>
                </a:ext>
              </a:extLst>
            </p:cNvPr>
            <p:cNvSpPr/>
            <p:nvPr/>
          </p:nvSpPr>
          <p:spPr>
            <a:xfrm>
              <a:off x="308361" y="3233522"/>
              <a:ext cx="2481330" cy="405126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pic>
          <p:nvPicPr>
            <p:cNvPr id="1042" name="Picture 18" descr="Sensors | Free Full-Text | Sensor-Based Assistive Devices for  Visually-Impaired People: Current Status, Challenges, and Future Directions  | HTML">
              <a:extLst>
                <a:ext uri="{FF2B5EF4-FFF2-40B4-BE49-F238E27FC236}">
                  <a16:creationId xmlns:a16="http://schemas.microsoft.com/office/drawing/2014/main" id="{17083ED5-1748-2440-8F3B-6A9F8ADA28B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50104" y="1575493"/>
              <a:ext cx="1978335" cy="202138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1F4FD381-DB29-6F4D-9A97-B3DB7DA53492}"/>
              </a:ext>
            </a:extLst>
          </p:cNvPr>
          <p:cNvSpPr/>
          <p:nvPr/>
        </p:nvSpPr>
        <p:spPr>
          <a:xfrm>
            <a:off x="294939" y="968840"/>
            <a:ext cx="8454653" cy="6540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222222"/>
                </a:solidFill>
                <a:latin typeface="Arial" panose="020B0604020202020204" pitchFamily="34" charset="0"/>
              </a:rPr>
              <a:t>Winter</a:t>
            </a:r>
            <a:r>
              <a:rPr lang="en-US" sz="1400">
                <a:solidFill>
                  <a:srgbClr val="222222"/>
                </a:solidFill>
                <a:latin typeface="Arial" panose="020B0604020202020204" pitchFamily="34" charset="0"/>
              </a:rPr>
              <a:t>, 2026.</a:t>
            </a:r>
            <a:endParaRPr lang="en-US" sz="14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en-US" sz="1200" dirty="0"/>
              <a:t>Instructor: Joseph L. Hellerstein, Senior Fellow (eScience Institute), Affiliate Professor (Allen School of Computer Science) </a:t>
            </a:r>
          </a:p>
          <a:p>
            <a:r>
              <a:rPr lang="en-US" sz="1050" dirty="0" err="1"/>
              <a:t>jlheller@uw.edu</a:t>
            </a:r>
            <a:endParaRPr lang="en-US" sz="1200" dirty="0"/>
          </a:p>
        </p:txBody>
      </p:sp>
      <p:pic>
        <p:nvPicPr>
          <p:cNvPr id="1026" name="Picture 2" descr="University of Washington - Global Innovation Exchange">
            <a:extLst>
              <a:ext uri="{FF2B5EF4-FFF2-40B4-BE49-F238E27FC236}">
                <a16:creationId xmlns:a16="http://schemas.microsoft.com/office/drawing/2014/main" id="{7612072B-57B4-A74A-B968-38133B4C9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5091" y="141241"/>
            <a:ext cx="1074677" cy="528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0414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4346</TotalTime>
  <Words>183</Words>
  <Application>Microsoft Macintosh PowerPoint</Application>
  <PresentationFormat>Letter Paper (8.5x11 in)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Courier New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Joseph L. Hellerstein</dc:creator>
  <cp:lastModifiedBy>Joseph Hellerstein</cp:lastModifiedBy>
  <cp:revision>66</cp:revision>
  <cp:lastPrinted>2022-02-09T23:06:52Z</cp:lastPrinted>
  <dcterms:created xsi:type="dcterms:W3CDTF">2022-02-08T20:34:04Z</dcterms:created>
  <dcterms:modified xsi:type="dcterms:W3CDTF">2025-04-30T18:40:16Z</dcterms:modified>
</cp:coreProperties>
</file>