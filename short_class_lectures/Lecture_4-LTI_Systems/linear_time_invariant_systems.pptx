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506" r:id="rId3"/>
    <p:sldId id="544" r:id="rId4"/>
    <p:sldId id="433" r:id="rId5"/>
    <p:sldId id="502" r:id="rId6"/>
    <p:sldId id="505" r:id="rId7"/>
    <p:sldId id="510" r:id="rId8"/>
    <p:sldId id="508" r:id="rId9"/>
    <p:sldId id="494" r:id="rId10"/>
    <p:sldId id="560" r:id="rId11"/>
    <p:sldId id="529" r:id="rId12"/>
    <p:sldId id="512" r:id="rId13"/>
    <p:sldId id="530" r:id="rId14"/>
    <p:sldId id="531" r:id="rId15"/>
    <p:sldId id="559" r:id="rId16"/>
    <p:sldId id="542" r:id="rId17"/>
    <p:sldId id="537" r:id="rId18"/>
    <p:sldId id="556" r:id="rId19"/>
    <p:sldId id="515" r:id="rId20"/>
    <p:sldId id="538" r:id="rId21"/>
    <p:sldId id="533" r:id="rId22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EPH L. HELLERSTEIN" initials="JLH [2]" lastIdx="1" clrIdx="0"/>
  <p:cmAuthor id="2" name="justin" initials="j" lastIdx="2" clrIdx="1"/>
  <p:cmAuthor id="3" name="amc" initials="amc" lastIdx="8" clrIdx="2"/>
  <p:cmAuthor id="4" name="JOSEPH L. HELLERSTEIN" initials="JLH" lastIdx="8" clrIdx="3"/>
  <p:cmAuthor id="5" name="JOSEPH L. HELLERSTEIN" initials="JLH [3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A7FF"/>
    <a:srgbClr val="3B1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48"/>
    <p:restoredTop sz="86304"/>
  </p:normalViewPr>
  <p:slideViewPr>
    <p:cSldViewPr snapToGrid="0" snapToObjects="1">
      <p:cViewPr varScale="1">
        <p:scale>
          <a:sx n="137" d="100"/>
          <a:sy n="137" d="100"/>
        </p:scale>
        <p:origin x="141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05BE4F18-81D8-4BC1-98BD-D84381BD97DF}" type="datetimeFigureOut">
              <a:rPr lang="en-US" altLang="x-none"/>
              <a:pPr>
                <a:defRPr/>
              </a:pPr>
              <a:t>1/9/26</a:t>
            </a:fld>
            <a:endParaRPr lang="en-U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783BC0B9-C385-45F2-A496-F5EEADCF36A2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061252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DCC3E5AD-E8F4-4AA4-AA5E-D6F4AD4B1421}" type="datetimeFigureOut">
              <a:rPr lang="en-US" altLang="x-none"/>
              <a:pPr>
                <a:defRPr/>
              </a:pPr>
              <a:t>1/9/26</a:t>
            </a:fld>
            <a:endParaRPr lang="en-US" alt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1E3608CA-DBCA-4E8F-8DAB-6E1AFAF19782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788846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Diverse students. Some with bio-backgrounds; some without. Some with CS background; some with very limited. Two separate courses combined because of a substantial shared curriculum.</a:t>
            </a:r>
            <a:endParaRPr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185A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rgbClr val="3B1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pic>
        <p:nvPicPr>
          <p:cNvPr id="7" name="Picture 9" descr="UW.Wordmark_ct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rapezoid 7"/>
          <p:cNvSpPr/>
          <p:nvPr userDrawn="1"/>
        </p:nvSpPr>
        <p:spPr>
          <a:xfrm flipV="1">
            <a:off x="8167688" y="6348413"/>
            <a:ext cx="585787" cy="396875"/>
          </a:xfrm>
          <a:prstGeom prst="trapezoid">
            <a:avLst/>
          </a:prstGeom>
          <a:solidFill>
            <a:srgbClr val="3B1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pic>
        <p:nvPicPr>
          <p:cNvPr id="9" name="Picture 11" descr="UW_W-Logo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275" y="6348413"/>
            <a:ext cx="593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8375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447675" y="594360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14675" y="5943600"/>
            <a:ext cx="2895600" cy="365125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 err="1"/>
              <a:t>Hellerstein</a:t>
            </a:r>
            <a:r>
              <a:rPr lang="en-US" dirty="0"/>
              <a:t> &amp; </a:t>
            </a:r>
            <a:r>
              <a:rPr lang="en-US" dirty="0" err="1"/>
              <a:t>Sauro</a:t>
            </a:r>
            <a:r>
              <a:rPr lang="en-US" dirty="0"/>
              <a:t>, 2018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34275" y="5943600"/>
            <a:ext cx="466725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6B70CF0-7673-4231-A8DF-C83F6333DC4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9846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pic>
        <p:nvPicPr>
          <p:cNvPr id="5" name="Picture 8" descr="UW.Wordmark_ct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9"/>
          <p:cNvGrpSpPr>
            <a:grpSpLocks noChangeAspect="1"/>
          </p:cNvGrpSpPr>
          <p:nvPr userDrawn="1"/>
        </p:nvGrpSpPr>
        <p:grpSpPr bwMode="auto"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7" name="Trapezoid 6"/>
            <p:cNvSpPr/>
            <p:nvPr userDrawn="1"/>
          </p:nvSpPr>
          <p:spPr>
            <a:xfrm flipV="1">
              <a:off x="8045450" y="6222997"/>
              <a:ext cx="733146" cy="494505"/>
            </a:xfrm>
            <a:prstGeom prst="trapezoid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pic>
          <p:nvPicPr>
            <p:cNvPr id="8" name="Picture 7" descr="UW_W-Logo_RGB.pn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ln>
              <a:noFill/>
            </a:ln>
            <a:effectLst>
              <a:glow rad="38100">
                <a:schemeClr val="bg1"/>
              </a:glow>
            </a:effec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Hellerstein &amp; </a:t>
            </a:r>
            <a:r>
              <a:rPr lang="en-US" dirty="0" err="1"/>
              <a:t>Sauro</a:t>
            </a:r>
            <a:r>
              <a:rPr lang="en-US" dirty="0"/>
              <a:t>, 2021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543801" y="6248400"/>
            <a:ext cx="533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4E9CC-9D91-476E-91FD-5BEEC164293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61645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Hellerstein &amp; </a:t>
            </a:r>
            <a:r>
              <a:rPr lang="en-US" dirty="0" err="1"/>
              <a:t>Sauro</a:t>
            </a:r>
            <a:r>
              <a:rPr lang="en-US" dirty="0"/>
              <a:t>, 2021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588372" y="6264274"/>
            <a:ext cx="537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48AF5-AD24-49E4-870F-03E7FFAFF73D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268392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457200" y="13716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96000" y="626427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0F3666-4F92-4AFE-AA79-734D2E6D8EFE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22400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172200" y="6264275"/>
            <a:ext cx="1905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CB552-6A5F-485E-BCBC-10B8AA1A3860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9972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Hellerstein &amp; </a:t>
            </a:r>
            <a:r>
              <a:rPr lang="en-US" dirty="0" err="1"/>
              <a:t>Sauro</a:t>
            </a:r>
            <a:r>
              <a:rPr lang="en-US" dirty="0"/>
              <a:t>, 2020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565366" y="6324600"/>
            <a:ext cx="51183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304A7-0FB2-4094-BC1E-DB17183AD0C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3496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400800" y="6324600"/>
            <a:ext cx="16097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96DF4-0A1C-4FFD-A010-55DAD04D9A6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27820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008313" cy="10668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33401"/>
            <a:ext cx="5111750" cy="541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76400"/>
            <a:ext cx="3008313" cy="42672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3675" y="609600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11D7C-4033-419C-969A-BBAEE2EDFC2C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967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6482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9592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214938"/>
            <a:ext cx="5486400" cy="7286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3675" y="609600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8D658-39E5-437A-8A5B-1BB29676E30D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2856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371600"/>
            <a:ext cx="8229600" cy="4572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3675" y="609600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8E452-D2D8-47BA-BE45-E1562FFD7E8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8006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1"/>
            <a:ext cx="2057400" cy="54102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9800" cy="54102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3675" y="609600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BD57A-FCD1-46D0-B4F3-27475AE259D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3133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 smtClean="0">
                <a:solidFill>
                  <a:srgbClr val="898989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grpSp>
        <p:nvGrpSpPr>
          <p:cNvPr id="1027" name="Group 19"/>
          <p:cNvGrpSpPr>
            <a:grpSpLocks noChangeAspect="1"/>
          </p:cNvGrpSpPr>
          <p:nvPr userDrawn="1"/>
        </p:nvGrpSpPr>
        <p:grpSpPr bwMode="auto"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9" name="Trapezoid 8"/>
            <p:cNvSpPr/>
            <p:nvPr userDrawn="1"/>
          </p:nvSpPr>
          <p:spPr>
            <a:xfrm flipV="1">
              <a:off x="8045450" y="6222997"/>
              <a:ext cx="733146" cy="494505"/>
            </a:xfrm>
            <a:prstGeom prst="trapezoid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pic>
          <p:nvPicPr>
            <p:cNvPr id="10" name="Picture 9" descr="UW_W-Logo_RGB.png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ln>
              <a:noFill/>
            </a:ln>
            <a:effectLst>
              <a:glow rad="38100">
                <a:schemeClr val="bg1"/>
              </a:glow>
            </a:effectLst>
          </p:spPr>
        </p:pic>
      </p:grpSp>
      <p:sp>
        <p:nvSpPr>
          <p:cNvPr id="14" name="Rectangle 13"/>
          <p:cNvSpPr/>
          <p:nvPr userDrawn="1"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 algn="ctr">
            <a:solidFill>
              <a:srgbClr val="3B185A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pic>
        <p:nvPicPr>
          <p:cNvPr id="1029" name="Picture 8" descr="UW.Wordmark_ctr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3675" y="6248400"/>
            <a:ext cx="1381125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27F3DADD-C4F0-4FD0-93A2-8E07AC6F0FB5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0" r:id="rId1"/>
    <p:sldLayoutId id="2147484221" r:id="rId2"/>
    <p:sldLayoutId id="2147484222" r:id="rId3"/>
    <p:sldLayoutId id="2147484223" r:id="rId4"/>
    <p:sldLayoutId id="2147484224" r:id="rId5"/>
    <p:sldLayoutId id="2147484225" r:id="rId6"/>
    <p:sldLayoutId id="2147484226" r:id="rId7"/>
    <p:sldLayoutId id="2147484227" r:id="rId8"/>
    <p:sldLayoutId id="2147484228" r:id="rId9"/>
    <p:sldLayoutId id="2147484229" r:id="rId10"/>
    <p:sldLayoutId id="2147484230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9.png"/><Relationship Id="rId7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8.png"/><Relationship Id="rId4" Type="http://schemas.openxmlformats.org/officeDocument/2006/relationships/image" Target="../media/image47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4.png"/><Relationship Id="rId7" Type="http://schemas.openxmlformats.org/officeDocument/2006/relationships/image" Target="../media/image550.png"/><Relationship Id="rId12" Type="http://schemas.openxmlformats.org/officeDocument/2006/relationships/image" Target="../media/image71.png"/><Relationship Id="rId2" Type="http://schemas.openxmlformats.org/officeDocument/2006/relationships/image" Target="../media/image63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0.png"/><Relationship Id="rId11" Type="http://schemas.openxmlformats.org/officeDocument/2006/relationships/image" Target="../media/image49.png"/><Relationship Id="rId5" Type="http://schemas.openxmlformats.org/officeDocument/2006/relationships/image" Target="../media/image66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5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77.png"/><Relationship Id="rId7" Type="http://schemas.openxmlformats.org/officeDocument/2006/relationships/image" Target="../media/image5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381000" y="517216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BIOE 498 / BIOE 599 </a:t>
            </a:r>
            <a:br>
              <a:rPr lang="en-US" sz="3200" b="1" dirty="0"/>
            </a:br>
            <a:r>
              <a:rPr lang="en-US" sz="3200" b="1" i="1" dirty="0"/>
              <a:t>Advanced Biological Control Systems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u="sng" dirty="0"/>
              <a:t>Linear Time Invariant Systems</a:t>
            </a:r>
            <a:br>
              <a:rPr lang="en-US" b="1" dirty="0"/>
            </a:br>
            <a:br>
              <a:rPr lang="en-US" b="1" dirty="0"/>
            </a:br>
            <a:endParaRPr i="1"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381000" y="3611071"/>
            <a:ext cx="8382000" cy="2239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 dirty="0"/>
              <a:t>Joseph L. Hellerstein</a:t>
            </a:r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dirty="0"/>
              <a:t>eScience Institute, Computer Science &amp; Engineering</a:t>
            </a:r>
            <a:endParaRPr dirty="0"/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dirty="0"/>
              <a:t>Allen School of Computer Science</a:t>
            </a:r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dirty="0" err="1"/>
              <a:t>BioEngineering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5764-3DB3-EF22-C152-8DBBFD1E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D6AEB-805F-1325-C2A4-73A70010C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model?</a:t>
            </a:r>
          </a:p>
          <a:p>
            <a:r>
              <a:rPr lang="en-US" dirty="0"/>
              <a:t>Laplace transform, stability, oscillations</a:t>
            </a:r>
          </a:p>
          <a:p>
            <a:r>
              <a:rPr lang="en-US" dirty="0"/>
              <a:t>Transfer functions and DC gain</a:t>
            </a:r>
          </a:p>
          <a:p>
            <a:r>
              <a:rPr lang="en-US" dirty="0"/>
              <a:t>Calculating DC 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F9456-3122-EF64-BE82-F57BC4B2E4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80347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A61A-C803-3748-1807-C905C11C3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Model?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22DC6D-FCF1-841A-DC5E-D300F9644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3188826"/>
          </a:xfrm>
        </p:spPr>
        <p:txBody>
          <a:bodyPr/>
          <a:lstStyle/>
          <a:p>
            <a:r>
              <a:rPr lang="en-US" dirty="0"/>
              <a:t>Most control properties are dynamic: stability, oscillations, settling times.</a:t>
            </a:r>
          </a:p>
          <a:p>
            <a:endParaRPr lang="en-US" dirty="0"/>
          </a:p>
          <a:p>
            <a:r>
              <a:rPr lang="en-US" dirty="0"/>
              <a:t>We need a way to easily assess these properties and to manipulate signals and systems (which are dynamical objects).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D20E3-1111-09B0-41E6-860B77E4DB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3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750760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F0ABEA-2151-DB44-87EA-3FC997EC0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r>
              <a:rPr lang="en-US" dirty="0"/>
              <a:t>G.P.E. Box (Famous Statistician)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239C5-E3EC-E048-9302-8AC3195CD2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4</a:t>
            </a:fld>
            <a:endParaRPr lang="en-US" alt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FCB56-1487-AF4C-8A6F-80E77F5C2E69}"/>
              </a:ext>
            </a:extLst>
          </p:cNvPr>
          <p:cNvSpPr txBox="1"/>
          <p:nvPr/>
        </p:nvSpPr>
        <p:spPr>
          <a:xfrm>
            <a:off x="304800" y="3992940"/>
            <a:ext cx="85763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All models are wrong.</a:t>
            </a:r>
          </a:p>
          <a:p>
            <a:r>
              <a:rPr lang="en-US" sz="4800" b="1" dirty="0"/>
              <a:t>But some models are useful.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3A8A36-116F-3B4A-8D5E-EADF1923C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173540"/>
            <a:ext cx="1968521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8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5276-8314-5E8F-C296-F8FF2F67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signals &amp; systems is about dynamics.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FB975-93AD-3C75-4462-3DD9BCEF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324" y="2343084"/>
            <a:ext cx="8229600" cy="3221783"/>
          </a:xfrm>
        </p:spPr>
        <p:txBody>
          <a:bodyPr/>
          <a:lstStyle/>
          <a:p>
            <a:r>
              <a:rPr lang="en-US" sz="2400" dirty="0"/>
              <a:t>We want a mathematical representation of the relationship between the input signal (</a:t>
            </a:r>
            <a:r>
              <a:rPr lang="en-US" sz="2400" i="1" dirty="0"/>
              <a:t>u</a:t>
            </a:r>
            <a:r>
              <a:rPr lang="en-US" sz="2400" dirty="0"/>
              <a:t>) and the output signal (</a:t>
            </a:r>
            <a:r>
              <a:rPr lang="en-US" sz="2400" i="1" dirty="0"/>
              <a:t>y</a:t>
            </a:r>
            <a:r>
              <a:rPr lang="en-US" sz="2400" dirty="0"/>
              <a:t>).</a:t>
            </a:r>
          </a:p>
          <a:p>
            <a:r>
              <a:rPr lang="en-US" sz="2400" dirty="0"/>
              <a:t>Properties of interest</a:t>
            </a:r>
          </a:p>
          <a:p>
            <a:pPr lvl="1"/>
            <a:r>
              <a:rPr lang="en-US" sz="2000" dirty="0"/>
              <a:t>Stability</a:t>
            </a:r>
          </a:p>
          <a:p>
            <a:pPr lvl="1"/>
            <a:r>
              <a:rPr lang="en-US" sz="2000" dirty="0"/>
              <a:t>DC</a:t>
            </a:r>
            <a:r>
              <a:rPr lang="en-US" sz="2000" b="1" dirty="0"/>
              <a:t> </a:t>
            </a:r>
            <a:r>
              <a:rPr lang="en-US" sz="2000" dirty="0"/>
              <a:t>Gain (”final” value of </a:t>
            </a:r>
            <a:r>
              <a:rPr lang="en-US" sz="2000" i="1" dirty="0"/>
              <a:t>y</a:t>
            </a:r>
            <a:r>
              <a:rPr lang="en-US" sz="2000" dirty="0"/>
              <a:t> for a unit step of </a:t>
            </a:r>
            <a:r>
              <a:rPr lang="en-US" sz="2000" i="1" dirty="0"/>
              <a:t>u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Setting times</a:t>
            </a:r>
          </a:p>
          <a:p>
            <a:pPr lvl="1"/>
            <a:r>
              <a:rPr lang="en-US" sz="2000" dirty="0"/>
              <a:t>Oscillations</a:t>
            </a:r>
          </a:p>
          <a:p>
            <a:r>
              <a:rPr lang="en-US" sz="2400" dirty="0"/>
              <a:t>Interpreting the mathematical representation</a:t>
            </a:r>
          </a:p>
          <a:p>
            <a:pPr lvl="1"/>
            <a:r>
              <a:rPr lang="en-US" sz="2000" dirty="0"/>
              <a:t>Interpret it as a “low order” chemical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1B3B8-D16E-DB6E-8F6A-A63234F447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5</a:t>
            </a:fld>
            <a:endParaRPr lang="en-US" altLang="x-non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99BABE-FF6A-6EBD-FA73-1D3E09CDD9D8}"/>
              </a:ext>
            </a:extLst>
          </p:cNvPr>
          <p:cNvGrpSpPr/>
          <p:nvPr/>
        </p:nvGrpSpPr>
        <p:grpSpPr>
          <a:xfrm>
            <a:off x="2843567" y="1308727"/>
            <a:ext cx="2643212" cy="800639"/>
            <a:chOff x="2843567" y="1308727"/>
            <a:chExt cx="2643212" cy="8006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29F3B7D-E260-4E08-8AF4-0267EC901C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20277" y="1474417"/>
              <a:ext cx="1095847" cy="63494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System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56A8879-B3EF-9CC3-F353-DE9AD64BDE63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3009418" y="1791892"/>
              <a:ext cx="610859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040BB5E-4B41-0B62-A18B-22BA948ADF2C}"/>
                    </a:ext>
                  </a:extLst>
                </p:cNvPr>
                <p:cNvSpPr/>
                <p:nvPr/>
              </p:nvSpPr>
              <p:spPr>
                <a:xfrm>
                  <a:off x="2843567" y="1329182"/>
                  <a:ext cx="71647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040BB5E-4B41-0B62-A18B-22BA948ADF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3567" y="1329182"/>
                  <a:ext cx="716478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807ACD7-D255-FD52-AC84-C9F61FD26F3A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4716124" y="1791892"/>
              <a:ext cx="642954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EDB9C73A-BFA5-B6D0-A4DA-496E4FAEB507}"/>
                    </a:ext>
                  </a:extLst>
                </p:cNvPr>
                <p:cNvSpPr/>
                <p:nvPr/>
              </p:nvSpPr>
              <p:spPr>
                <a:xfrm>
                  <a:off x="4770301" y="1308727"/>
                  <a:ext cx="71647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EDB9C73A-BFA5-B6D0-A4DA-496E4FAEB5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0301" y="1308727"/>
                  <a:ext cx="716478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9119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AB0F-C9CD-BC4D-BFF5-C5175867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381000"/>
            <a:ext cx="6821890" cy="838200"/>
          </a:xfrm>
        </p:spPr>
        <p:txBody>
          <a:bodyPr/>
          <a:lstStyle/>
          <a:p>
            <a:r>
              <a:rPr lang="en-US" sz="2800" dirty="0"/>
              <a:t>First Order Linear Time Invariant (LTI)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D76ED-E52E-8B4B-9809-FB9B7172F5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0457" y="943570"/>
                <a:ext cx="6821889" cy="4107123"/>
              </a:xfrm>
              <a:solidFill>
                <a:schemeClr val="bg1"/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  <a:p>
                <a:r>
                  <a:rPr lang="en-US" sz="2400" dirty="0"/>
                  <a:t>Differential equation</a:t>
                </a:r>
                <a:r>
                  <a:rPr lang="en-US" sz="2400" b="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dy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𝑝𝑦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Solution: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nor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000" dirty="0"/>
                      <m:t>f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&lt;0</m:t>
                    </m:r>
                    <m:r>
                      <m:rPr>
                        <m:nor/>
                      </m:rPr>
                      <a:rPr lang="en-US" sz="2000" dirty="0"/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57150" indent="0"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b="1" dirty="0"/>
              </a:p>
              <a:p>
                <a:r>
                  <a:rPr lang="en-US" sz="2400" dirty="0"/>
                  <a:t>Differential equation: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dy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Solution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400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D76ED-E52E-8B4B-9809-FB9B7172F5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0457" y="943570"/>
                <a:ext cx="6821889" cy="4107123"/>
              </a:xfrm>
              <a:blipFill>
                <a:blip r:embed="rId2"/>
                <a:stretch>
                  <a:fillRect l="-1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7B308-985A-B246-96EB-B173C6B260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6</a:t>
            </a:fld>
            <a:endParaRPr lang="en-US" altLang="x-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01730D-5DFA-70FC-C1A7-2AFE21AA6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443" y="387416"/>
            <a:ext cx="1622115" cy="612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37795B-3AA0-89D0-CC58-7848336E8668}"/>
                  </a:ext>
                </a:extLst>
              </p:cNvPr>
              <p:cNvSpPr txBox="1"/>
              <p:nvPr/>
            </p:nvSpPr>
            <p:spPr>
              <a:xfrm>
                <a:off x="1045230" y="5304457"/>
                <a:ext cx="112721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37795B-3AA0-89D0-CC58-7848336E8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30" y="5304457"/>
                <a:ext cx="1127215" cy="276999"/>
              </a:xfrm>
              <a:prstGeom prst="rect">
                <a:avLst/>
              </a:prstGeom>
              <a:blipFill>
                <a:blip r:embed="rId4"/>
                <a:stretch>
                  <a:fillRect t="-26087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CB732995-24DF-3FA5-D716-CCB3F80B8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5740" y="4812718"/>
            <a:ext cx="1649130" cy="1828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F87ADF-D38E-656F-8A16-EE4F4CAE9E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7774" y="4812718"/>
            <a:ext cx="160177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8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AB0F-C9CD-BC4D-BFF5-C5175867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381000"/>
            <a:ext cx="6821890" cy="838200"/>
          </a:xfrm>
        </p:spPr>
        <p:txBody>
          <a:bodyPr/>
          <a:lstStyle/>
          <a:p>
            <a:r>
              <a:rPr lang="en-US" sz="2800" dirty="0"/>
              <a:t>Pole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D76ED-E52E-8B4B-9809-FB9B7172F5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464" y="1185444"/>
                <a:ext cx="7531768" cy="1576418"/>
              </a:xfrm>
            </p:spPr>
            <p:txBody>
              <a:bodyPr/>
              <a:lstStyle/>
              <a:p>
                <a:r>
                  <a:rPr lang="en-US" sz="2400" dirty="0"/>
                  <a:t>The pole, </a:t>
                </a:r>
                <a:r>
                  <a:rPr lang="en-US" sz="2400" i="1" dirty="0"/>
                  <a:t>p</a:t>
                </a:r>
                <a:r>
                  <a:rPr lang="en-US" sz="2400" dirty="0"/>
                  <a:t>, is the exponent of the exponential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m:rPr>
                          <m:lit/>
                        </m:rP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b="0" i="0" dirty="0">
                    <a:latin typeface="Cambria Math" panose="02040503050406030204" pitchFamily="18" charset="0"/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 </m:t>
                    </m:r>
                  </m:oMath>
                </a14:m>
                <a:r>
                  <a:rPr lang="en-US" sz="2400" dirty="0"/>
                  <a:t>What happens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is negative? positive? zero?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D76ED-E52E-8B4B-9809-FB9B7172F5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464" y="1185444"/>
                <a:ext cx="7531768" cy="1576418"/>
              </a:xfrm>
              <a:blipFill>
                <a:blip r:embed="rId2"/>
                <a:stretch>
                  <a:fillRect l="-1010" t="-32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7B308-985A-B246-96EB-B173C6B260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7</a:t>
            </a:fld>
            <a:endParaRPr lang="en-US" altLang="x-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01730D-5DFA-70FC-C1A7-2AFE21AA6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443" y="387416"/>
            <a:ext cx="1622115" cy="612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EF934E-D2AA-D07A-81F8-08BDB9AAE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368" y="3358174"/>
            <a:ext cx="191770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A66A77-4679-7EDC-ED5A-029D99C17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03" y="3281974"/>
            <a:ext cx="2413000" cy="1879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B1C591-28AA-7123-09EB-BB1A4B5E8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7250" y="3281974"/>
            <a:ext cx="2349500" cy="190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5AAACB-D70C-0BB4-DF21-B558FC937BDF}"/>
              </a:ext>
            </a:extLst>
          </p:cNvPr>
          <p:cNvSpPr txBox="1"/>
          <p:nvPr/>
        </p:nvSpPr>
        <p:spPr>
          <a:xfrm>
            <a:off x="1698859" y="534297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3FA598-54C7-4BE7-002F-9AC8F9830F85}"/>
                  </a:ext>
                </a:extLst>
              </p:cNvPr>
              <p:cNvSpPr txBox="1"/>
              <p:nvPr/>
            </p:nvSpPr>
            <p:spPr>
              <a:xfrm>
                <a:off x="4572000" y="5372521"/>
                <a:ext cx="6119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3FA598-54C7-4BE7-002F-9AC8F9830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372521"/>
                <a:ext cx="611962" cy="276999"/>
              </a:xfrm>
              <a:prstGeom prst="rect">
                <a:avLst/>
              </a:prstGeom>
              <a:blipFill>
                <a:blip r:embed="rId7"/>
                <a:stretch>
                  <a:fillRect l="-10204" t="-21739" r="-24490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188D5A-8587-08D5-36A2-842A37235C71}"/>
                  </a:ext>
                </a:extLst>
              </p:cNvPr>
              <p:cNvSpPr txBox="1"/>
              <p:nvPr/>
            </p:nvSpPr>
            <p:spPr>
              <a:xfrm>
                <a:off x="7267867" y="5328910"/>
                <a:ext cx="78917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188D5A-8587-08D5-36A2-842A37235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867" y="5328910"/>
                <a:ext cx="789171" cy="276999"/>
              </a:xfrm>
              <a:prstGeom prst="rect">
                <a:avLst/>
              </a:prstGeom>
              <a:blipFill>
                <a:blip r:embed="rId8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033430-5073-C680-4326-886BDB80B0E5}"/>
                  </a:ext>
                </a:extLst>
              </p:cNvPr>
              <p:cNvSpPr txBox="1"/>
              <p:nvPr/>
            </p:nvSpPr>
            <p:spPr>
              <a:xfrm>
                <a:off x="1593803" y="5227310"/>
                <a:ext cx="6219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033430-5073-C680-4326-886BDB80B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803" y="5227310"/>
                <a:ext cx="621965" cy="276999"/>
              </a:xfrm>
              <a:prstGeom prst="rect">
                <a:avLst/>
              </a:prstGeom>
              <a:blipFill>
                <a:blip r:embed="rId9"/>
                <a:stretch>
                  <a:fillRect l="-8000" t="-21739" r="-26000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89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AB0F-C9CD-BC4D-BFF5-C5175867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381000"/>
            <a:ext cx="6456512" cy="838200"/>
          </a:xfrm>
        </p:spPr>
        <p:txBody>
          <a:bodyPr/>
          <a:lstStyle/>
          <a:p>
            <a:r>
              <a:rPr lang="en-US" sz="2800" dirty="0"/>
              <a:t>Systems of Differential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D76ED-E52E-8B4B-9809-FB9B7172F5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9917" y="1451727"/>
                <a:ext cx="8048005" cy="395454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Solution: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are the poles of this system</a:t>
                </a:r>
              </a:p>
              <a:p>
                <a:r>
                  <a:rPr lang="en-US" sz="2400" dirty="0"/>
                  <a:t>The largest (</a:t>
                </a:r>
                <a:r>
                  <a:rPr lang="en-US" sz="2400" b="1" dirty="0"/>
                  <a:t>dominant</a:t>
                </a:r>
                <a:r>
                  <a:rPr lang="en-US" sz="2400" dirty="0"/>
                  <a:t>) pole,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, determines the long term behavior.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000" dirty="0"/>
                  <a:t>: converges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: constant value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: unbounded exponential increase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can be complex, in which case there are oscillations.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D76ED-E52E-8B4B-9809-FB9B7172F5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917" y="1451727"/>
                <a:ext cx="8048005" cy="3954545"/>
              </a:xfrm>
              <a:blipFill>
                <a:blip r:embed="rId2"/>
                <a:stretch>
                  <a:fillRect l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7B308-985A-B246-96EB-B173C6B260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8</a:t>
            </a:fld>
            <a:endParaRPr lang="en-US" altLang="x-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01730D-5DFA-70FC-C1A7-2AFE21AA6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443" y="387416"/>
            <a:ext cx="1622115" cy="61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B2E8-A2BC-EB4D-882D-F0B28270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3731342" cy="838200"/>
          </a:xfrm>
        </p:spPr>
        <p:txBody>
          <a:bodyPr/>
          <a:lstStyle/>
          <a:p>
            <a:r>
              <a:rPr lang="en-US" dirty="0"/>
              <a:t>Summary</a:t>
            </a:r>
            <a:endParaRPr lang="en-US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97272E-D46F-6E42-BC9C-FBF77FC051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415" y="1219200"/>
                <a:ext cx="7051086" cy="6613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dominant pole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97272E-D46F-6E42-BC9C-FBF77FC05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415" y="1219200"/>
                <a:ext cx="7051086" cy="661387"/>
              </a:xfrm>
              <a:blipFill>
                <a:blip r:embed="rId2"/>
                <a:stretch>
                  <a:fillRect l="-1982" t="-11538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AC818-E3B3-E040-8246-2251009BD1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9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CF6B65BA-A50B-5E64-1F7F-A25324C985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1079458"/>
                  </p:ext>
                </p:extLst>
              </p:nvPr>
            </p:nvGraphicFramePr>
            <p:xfrm>
              <a:off x="568914" y="2705170"/>
              <a:ext cx="7951308" cy="27495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87827">
                      <a:extLst>
                        <a:ext uri="{9D8B030D-6E8A-4147-A177-3AD203B41FA5}">
                          <a16:colId xmlns:a16="http://schemas.microsoft.com/office/drawing/2014/main" val="883391308"/>
                        </a:ext>
                      </a:extLst>
                    </a:gridCol>
                    <a:gridCol w="1987827">
                      <a:extLst>
                        <a:ext uri="{9D8B030D-6E8A-4147-A177-3AD203B41FA5}">
                          <a16:colId xmlns:a16="http://schemas.microsoft.com/office/drawing/2014/main" val="2259412574"/>
                        </a:ext>
                      </a:extLst>
                    </a:gridCol>
                    <a:gridCol w="1987827">
                      <a:extLst>
                        <a:ext uri="{9D8B030D-6E8A-4147-A177-3AD203B41FA5}">
                          <a16:colId xmlns:a16="http://schemas.microsoft.com/office/drawing/2014/main" val="3424911122"/>
                        </a:ext>
                      </a:extLst>
                    </a:gridCol>
                    <a:gridCol w="1987827">
                      <a:extLst>
                        <a:ext uri="{9D8B030D-6E8A-4147-A177-3AD203B41FA5}">
                          <a16:colId xmlns:a16="http://schemas.microsoft.com/office/drawing/2014/main" val="2758415832"/>
                        </a:ext>
                      </a:extLst>
                    </a:gridCol>
                  </a:tblGrid>
                  <a:tr h="724155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𝒓𝒆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)&lt;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𝒓𝒆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𝒓𝒆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)&gt;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9856077"/>
                      </a:ext>
                    </a:extLst>
                  </a:tr>
                  <a:tr h="833973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𝒊𝒎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No oscillations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No oscillations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Unstable</a:t>
                          </a: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No oscillations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0489713"/>
                      </a:ext>
                    </a:extLst>
                  </a:tr>
                  <a:tr h="119139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𝒊𝒎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)≠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Transient oscillations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Persistent oscillations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Unstable</a:t>
                          </a:r>
                        </a:p>
                        <a:p>
                          <a:pPr algn="ctr"/>
                          <a:r>
                            <a:rPr lang="en-US" sz="2400" dirty="0"/>
                            <a:t>oscillations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22993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CF6B65BA-A50B-5E64-1F7F-A25324C985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1079458"/>
                  </p:ext>
                </p:extLst>
              </p:nvPr>
            </p:nvGraphicFramePr>
            <p:xfrm>
              <a:off x="568914" y="2705170"/>
              <a:ext cx="7951308" cy="27495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87827">
                      <a:extLst>
                        <a:ext uri="{9D8B030D-6E8A-4147-A177-3AD203B41FA5}">
                          <a16:colId xmlns:a16="http://schemas.microsoft.com/office/drawing/2014/main" val="883391308"/>
                        </a:ext>
                      </a:extLst>
                    </a:gridCol>
                    <a:gridCol w="1987827">
                      <a:extLst>
                        <a:ext uri="{9D8B030D-6E8A-4147-A177-3AD203B41FA5}">
                          <a16:colId xmlns:a16="http://schemas.microsoft.com/office/drawing/2014/main" val="2259412574"/>
                        </a:ext>
                      </a:extLst>
                    </a:gridCol>
                    <a:gridCol w="1987827">
                      <a:extLst>
                        <a:ext uri="{9D8B030D-6E8A-4147-A177-3AD203B41FA5}">
                          <a16:colId xmlns:a16="http://schemas.microsoft.com/office/drawing/2014/main" val="3424911122"/>
                        </a:ext>
                      </a:extLst>
                    </a:gridCol>
                    <a:gridCol w="1987827">
                      <a:extLst>
                        <a:ext uri="{9D8B030D-6E8A-4147-A177-3AD203B41FA5}">
                          <a16:colId xmlns:a16="http://schemas.microsoft.com/office/drawing/2014/main" val="2758415832"/>
                        </a:ext>
                      </a:extLst>
                    </a:gridCol>
                  </a:tblGrid>
                  <a:tr h="724155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754" r="-20063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282" t="-1754" r="-10192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63" t="-1754" r="-127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9856077"/>
                      </a:ext>
                    </a:extLst>
                  </a:tr>
                  <a:tr h="8339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87879" r="-300637" b="-15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87879" r="-200637" b="-15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282" t="-87879" r="-101923" b="-15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Unstable</a:t>
                          </a: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No oscillations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0489713"/>
                      </a:ext>
                    </a:extLst>
                  </a:tr>
                  <a:tr h="11913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31915" r="-300637" b="-11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31915" r="-200637" b="-11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282" t="-131915" r="-101923" b="-11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Unstable</a:t>
                          </a:r>
                        </a:p>
                        <a:p>
                          <a:pPr algn="ctr"/>
                          <a:r>
                            <a:rPr lang="en-US" sz="2400" dirty="0"/>
                            <a:t>oscillations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22993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DCD97AE-810A-E1E7-8317-6BCC82319002}"/>
              </a:ext>
            </a:extLst>
          </p:cNvPr>
          <p:cNvSpPr txBox="1"/>
          <p:nvPr/>
        </p:nvSpPr>
        <p:spPr>
          <a:xfrm>
            <a:off x="1248697" y="5666878"/>
            <a:ext cx="6378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Signals with more negative poles have shorter settling times.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541AE1-166D-484F-8406-93081424A558}"/>
                  </a:ext>
                </a:extLst>
              </p:cNvPr>
              <p:cNvSpPr txBox="1"/>
              <p:nvPr/>
            </p:nvSpPr>
            <p:spPr>
              <a:xfrm>
                <a:off x="4714733" y="307156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y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541AE1-166D-484F-8406-93081424A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733" y="307156"/>
                <a:ext cx="4572000" cy="46166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F5DEB2-4950-F152-A943-E97C3DFD5335}"/>
                  </a:ext>
                </a:extLst>
              </p:cNvPr>
              <p:cNvSpPr txBox="1"/>
              <p:nvPr/>
            </p:nvSpPr>
            <p:spPr>
              <a:xfrm>
                <a:off x="904568" y="1736925"/>
                <a:ext cx="2390526" cy="287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F5DEB2-4950-F152-A943-E97C3DFD5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68" y="1736925"/>
                <a:ext cx="2390526" cy="287323"/>
              </a:xfrm>
              <a:prstGeom prst="rect">
                <a:avLst/>
              </a:prstGeom>
              <a:blipFill>
                <a:blip r:embed="rId5"/>
                <a:stretch>
                  <a:fillRect l="-1587" t="-4167" r="-264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27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C95E2-3C45-2BEF-118A-A3963BD3D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EAD4-70EA-9615-FBE2-A3C4CDCC1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3731342" cy="838200"/>
          </a:xfrm>
        </p:spPr>
        <p:txBody>
          <a:bodyPr/>
          <a:lstStyle/>
          <a:p>
            <a:r>
              <a:rPr lang="en-US" dirty="0"/>
              <a:t>Summary</a:t>
            </a:r>
            <a:endParaRPr lang="en-US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3798A1-8A22-5602-006B-807956883D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415" y="1219200"/>
                <a:ext cx="7051086" cy="6613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dominant pole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97272E-D46F-6E42-BC9C-FBF77FC05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415" y="1219200"/>
                <a:ext cx="7051086" cy="661387"/>
              </a:xfrm>
              <a:blipFill>
                <a:blip r:embed="rId2"/>
                <a:stretch>
                  <a:fillRect l="-1982" t="-11538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9041B-A48D-D986-C9B8-C17BA16F0A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10</a:t>
            </a:fld>
            <a:endParaRPr lang="en-US" altLang="x-non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1D0EED-6B27-1AB3-CF0C-BF563EE06552}"/>
              </a:ext>
            </a:extLst>
          </p:cNvPr>
          <p:cNvSpPr txBox="1"/>
          <p:nvPr/>
        </p:nvSpPr>
        <p:spPr>
          <a:xfrm>
            <a:off x="1248697" y="5666878"/>
            <a:ext cx="6378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Signals with more negative poles have shorter settling times.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88EBF5-2D91-DF7D-DE36-F08CC330284F}"/>
                  </a:ext>
                </a:extLst>
              </p:cNvPr>
              <p:cNvSpPr txBox="1"/>
              <p:nvPr/>
            </p:nvSpPr>
            <p:spPr>
              <a:xfrm>
                <a:off x="4714733" y="307156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y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541AE1-166D-484F-8406-93081424A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733" y="307156"/>
                <a:ext cx="4572000" cy="46166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9B68AC-45A8-7016-CECB-AE0097F399BD}"/>
                  </a:ext>
                </a:extLst>
              </p:cNvPr>
              <p:cNvSpPr txBox="1"/>
              <p:nvPr/>
            </p:nvSpPr>
            <p:spPr>
              <a:xfrm>
                <a:off x="904568" y="1736925"/>
                <a:ext cx="2390526" cy="287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F5DEB2-4950-F152-A943-E97C3DFD5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68" y="1736925"/>
                <a:ext cx="2390526" cy="287323"/>
              </a:xfrm>
              <a:prstGeom prst="rect">
                <a:avLst/>
              </a:prstGeom>
              <a:blipFill>
                <a:blip r:embed="rId5"/>
                <a:stretch>
                  <a:fillRect l="-1587" t="-4167" r="-264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1BA758C-80F0-1FBF-CB99-56FF48EC8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85" y="2278724"/>
            <a:ext cx="7772400" cy="284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1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0427-1475-0C4B-AABA-E0914B9F0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Laplace Transform (LT)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4FBDE8-423A-2643-9731-42BA3B74DA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2878" y="2245490"/>
                <a:ext cx="6189406" cy="100898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is an imaginary number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continuous </a:t>
                </a:r>
                <a:r>
                  <a:rPr lang="en-US" sz="2000" dirty="0"/>
                  <a:t>function</a:t>
                </a:r>
                <a:r>
                  <a:rPr lang="en-US" sz="2400" dirty="0"/>
                  <a:t> of 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4FBDE8-423A-2643-9731-42BA3B74D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2878" y="2245490"/>
                <a:ext cx="6189406" cy="1008988"/>
              </a:xfrm>
              <a:blipFill>
                <a:blip r:embed="rId2"/>
                <a:stretch>
                  <a:fillRect l="-1434" t="-3704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8F59F2-E23B-5F4F-9327-D1FE599E4C48}"/>
                  </a:ext>
                </a:extLst>
              </p:cNvPr>
              <p:cNvSpPr txBox="1"/>
              <p:nvPr/>
            </p:nvSpPr>
            <p:spPr>
              <a:xfrm>
                <a:off x="2663103" y="1219200"/>
                <a:ext cx="3796552" cy="7991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8F59F2-E23B-5F4F-9327-D1FE599E4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103" y="1219200"/>
                <a:ext cx="3796552" cy="799130"/>
              </a:xfrm>
              <a:prstGeom prst="rect">
                <a:avLst/>
              </a:prstGeom>
              <a:blipFill>
                <a:blip r:embed="rId3"/>
                <a:stretch>
                  <a:fillRect l="-5333" t="-198413" b="-28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3AEAFE0-6560-82D7-E15F-11B98B5F40F6}"/>
              </a:ext>
            </a:extLst>
          </p:cNvPr>
          <p:cNvSpPr txBox="1"/>
          <p:nvPr/>
        </p:nvSpPr>
        <p:spPr>
          <a:xfrm>
            <a:off x="457200" y="3376212"/>
            <a:ext cx="81656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LTs are easy to calculate for a system of </a:t>
            </a:r>
            <a:r>
              <a:rPr lang="en-US" sz="2400" u="sng" dirty="0"/>
              <a:t>linear</a:t>
            </a:r>
            <a:r>
              <a:rPr lang="en-US" sz="2400" dirty="0"/>
              <a:t> differential equations.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7697E-FAA4-1B76-8030-58F214101D81}"/>
              </a:ext>
            </a:extLst>
          </p:cNvPr>
          <p:cNvSpPr txBox="1"/>
          <p:nvPr/>
        </p:nvSpPr>
        <p:spPr>
          <a:xfrm>
            <a:off x="535858" y="4328944"/>
            <a:ext cx="79985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LTs provide a concise description of dynamic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Poles are easy to find.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Steady state (if it exists) is easy to calculate.</a:t>
            </a:r>
          </a:p>
        </p:txBody>
      </p:sp>
    </p:spTree>
    <p:extLst>
      <p:ext uri="{BB962C8B-B14F-4D97-AF65-F5344CB8AC3E}">
        <p14:creationId xmlns:p14="http://schemas.microsoft.com/office/powerpoint/2010/main" val="1451467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ADCBA-E452-43F9-7963-6F27D045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004" y="472280"/>
            <a:ext cx="6813242" cy="838200"/>
          </a:xfrm>
        </p:spPr>
        <p:txBody>
          <a:bodyPr/>
          <a:lstStyle/>
          <a:p>
            <a:r>
              <a:rPr lang="en-US" dirty="0"/>
              <a:t>Laplace Transforms of Basic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53D64F-FF1B-0CCB-978F-3BF078EE73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256254"/>
                <a:ext cx="8229600" cy="2921269"/>
              </a:xfrm>
            </p:spPr>
            <p:txBody>
              <a:bodyPr/>
              <a:lstStyle/>
              <a:p>
                <a:r>
                  <a:rPr lang="en-US" sz="2800" dirty="0">
                    <a:ea typeface="Cambria Math" panose="02040503050406030204" pitchFamily="18" charset="0"/>
                  </a:rPr>
                  <a:t>S1: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(impulse at 0)</a:t>
                </a:r>
              </a:p>
              <a:p>
                <a:r>
                  <a:rPr lang="en-US" sz="2800" dirty="0">
                    <a:ea typeface="Cambria Math" panose="02040503050406030204" pitchFamily="18" charset="0"/>
                  </a:rPr>
                  <a:t>S2: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dirty="0"/>
                  <a:t> (unit step at time 0)</a:t>
                </a:r>
              </a:p>
              <a:p>
                <a:r>
                  <a:rPr lang="en-US" sz="2800" dirty="0">
                    <a:ea typeface="Cambria Math" panose="02040503050406030204" pitchFamily="18" charset="0"/>
                  </a:rPr>
                  <a:t>S3: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(ramp)</a:t>
                </a:r>
              </a:p>
              <a:p>
                <a:r>
                  <a:rPr lang="en-US" sz="2800" dirty="0">
                    <a:ea typeface="Cambria Math" panose="02040503050406030204" pitchFamily="18" charset="0"/>
                  </a:rPr>
                  <a:t>S4: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𝑝𝑡</m:t>
                            </m:r>
                          </m:sup>
                        </m:sSup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53D64F-FF1B-0CCB-978F-3BF078EE73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256254"/>
                <a:ext cx="8229600" cy="2921269"/>
              </a:xfrm>
              <a:blipFill>
                <a:blip r:embed="rId2"/>
                <a:stretch>
                  <a:fillRect l="-1389" t="-2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2071B-A811-8929-1386-AC30FB2A2E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12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8FB41C-8089-1861-C84E-56F7AF0CD3D2}"/>
                  </a:ext>
                </a:extLst>
              </p:cNvPr>
              <p:cNvSpPr txBox="1"/>
              <p:nvPr/>
            </p:nvSpPr>
            <p:spPr>
              <a:xfrm>
                <a:off x="457200" y="1060736"/>
                <a:ext cx="3231281" cy="69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8FB41C-8089-1861-C84E-56F7AF0CD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60736"/>
                <a:ext cx="3231281" cy="691664"/>
              </a:xfrm>
              <a:prstGeom prst="rect">
                <a:avLst/>
              </a:prstGeom>
              <a:blipFill>
                <a:blip r:embed="rId3"/>
                <a:stretch>
                  <a:fillRect t="-160000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83F9DAD-A937-B617-970C-B97A3B8E9163}"/>
              </a:ext>
            </a:extLst>
          </p:cNvPr>
          <p:cNvGrpSpPr>
            <a:grpSpLocks noChangeAspect="1"/>
          </p:cNvGrpSpPr>
          <p:nvPr/>
        </p:nvGrpSpPr>
        <p:grpSpPr>
          <a:xfrm>
            <a:off x="7040739" y="347674"/>
            <a:ext cx="1646061" cy="461681"/>
            <a:chOff x="2353379" y="1227030"/>
            <a:chExt cx="3603179" cy="101061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B71DAA-05F4-72EE-8992-75F8159922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20277" y="1474417"/>
              <a:ext cx="1095847" cy="63494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DA88C83-D125-8EB0-97B5-6B0AC3B0ED6C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3009418" y="1791892"/>
              <a:ext cx="610859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CA33268-C5EA-0A3D-767A-5A4C20E95422}"/>
                    </a:ext>
                  </a:extLst>
                </p:cNvPr>
                <p:cNvSpPr/>
                <p:nvPr/>
              </p:nvSpPr>
              <p:spPr>
                <a:xfrm>
                  <a:off x="2353379" y="1227065"/>
                  <a:ext cx="716476" cy="10105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CA33268-C5EA-0A3D-767A-5A4C20E954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3379" y="1227065"/>
                  <a:ext cx="716476" cy="1010575"/>
                </a:xfrm>
                <a:prstGeom prst="rect">
                  <a:avLst/>
                </a:prstGeom>
                <a:blipFill>
                  <a:blip r:embed="rId4"/>
                  <a:stretch>
                    <a:fillRect r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7782134-6E76-7CFF-1135-F4CA09E47509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716124" y="1791892"/>
              <a:ext cx="642954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C8B1606-6EA0-C9AC-F4AA-5B4506EF3EE3}"/>
                    </a:ext>
                  </a:extLst>
                </p:cNvPr>
                <p:cNvSpPr/>
                <p:nvPr/>
              </p:nvSpPr>
              <p:spPr>
                <a:xfrm>
                  <a:off x="5240079" y="1227030"/>
                  <a:ext cx="716479" cy="46166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C8B1606-6EA0-C9AC-F4AA-5B4506EF3E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0079" y="1227030"/>
                  <a:ext cx="716479" cy="461667"/>
                </a:xfrm>
                <a:prstGeom prst="rect">
                  <a:avLst/>
                </a:prstGeom>
                <a:blipFill>
                  <a:blip r:embed="rId5"/>
                  <a:stretch>
                    <a:fillRect l="-3846" r="-11538" b="-12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4EBF6197-5CFC-0D56-6F43-3E42267946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44731"/>
            <a:ext cx="5626424" cy="147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241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ADCBA-E452-43F9-7963-6F27D045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086" y="398637"/>
            <a:ext cx="5332396" cy="838200"/>
          </a:xfrm>
        </p:spPr>
        <p:txBody>
          <a:bodyPr/>
          <a:lstStyle/>
          <a:p>
            <a:r>
              <a:rPr lang="en-US" dirty="0"/>
              <a:t>Laplace Transforms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53D64F-FF1B-0CCB-978F-3BF078EE73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2745605"/>
                <a:ext cx="8229600" cy="2757639"/>
              </a:xfrm>
            </p:spPr>
            <p:txBody>
              <a:bodyPr/>
              <a:lstStyle/>
              <a:p>
                <a:r>
                  <a:rPr lang="en-US" sz="2800" dirty="0">
                    <a:ea typeface="Cambria Math" panose="02040503050406030204" pitchFamily="18" charset="0"/>
                  </a:rPr>
                  <a:t>P1: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𝑑𝑢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sz="2800" dirty="0">
                    <a:ea typeface="Cambria Math" panose="02040503050406030204" pitchFamily="18" charset="0"/>
                  </a:rPr>
                  <a:t>P2: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∫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sz="2800" dirty="0">
                    <a:ea typeface="Cambria Math" panose="02040503050406030204" pitchFamily="18" charset="0"/>
                  </a:rPr>
                  <a:t>P3: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sz="2800" dirty="0">
                    <a:ea typeface="Cambria Math" panose="02040503050406030204" pitchFamily="18" charset="0"/>
                  </a:rPr>
                  <a:t>P4: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53D64F-FF1B-0CCB-978F-3BF078EE73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745605"/>
                <a:ext cx="8229600" cy="2757639"/>
              </a:xfrm>
              <a:blipFill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2071B-A811-8929-1386-AC30FB2A2E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13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8FB41C-8089-1861-C84E-56F7AF0CD3D2}"/>
                  </a:ext>
                </a:extLst>
              </p:cNvPr>
              <p:cNvSpPr txBox="1"/>
              <p:nvPr/>
            </p:nvSpPr>
            <p:spPr>
              <a:xfrm>
                <a:off x="2142584" y="1435839"/>
                <a:ext cx="4367944" cy="8914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8FB41C-8089-1861-C84E-56F7AF0CD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584" y="1435839"/>
                <a:ext cx="4367944" cy="891462"/>
              </a:xfrm>
              <a:prstGeom prst="rect">
                <a:avLst/>
              </a:prstGeom>
              <a:blipFill>
                <a:blip r:embed="rId3"/>
                <a:stretch>
                  <a:fillRect t="-170423" b="-243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0CDF6B35-AC16-E5D8-00EF-51612D31DE55}"/>
              </a:ext>
            </a:extLst>
          </p:cNvPr>
          <p:cNvGrpSpPr>
            <a:grpSpLocks noChangeAspect="1"/>
          </p:cNvGrpSpPr>
          <p:nvPr/>
        </p:nvGrpSpPr>
        <p:grpSpPr>
          <a:xfrm>
            <a:off x="7040739" y="347674"/>
            <a:ext cx="1646061" cy="461681"/>
            <a:chOff x="2353379" y="1227030"/>
            <a:chExt cx="3603179" cy="101061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8C0F813-0A8D-3549-79E2-9A719A7F6A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20277" y="1474417"/>
              <a:ext cx="1095847" cy="63494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F0A1712-AB89-84AF-140A-7A0D8B1DF369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3009418" y="1791892"/>
              <a:ext cx="610859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75559752-B741-F823-63EA-100B0F5AE15A}"/>
                    </a:ext>
                  </a:extLst>
                </p:cNvPr>
                <p:cNvSpPr/>
                <p:nvPr/>
              </p:nvSpPr>
              <p:spPr>
                <a:xfrm>
                  <a:off x="2353379" y="1227065"/>
                  <a:ext cx="716476" cy="10105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75559752-B741-F823-63EA-100B0F5AE1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3379" y="1227065"/>
                  <a:ext cx="716476" cy="1010575"/>
                </a:xfrm>
                <a:prstGeom prst="rect">
                  <a:avLst/>
                </a:prstGeom>
                <a:blipFill>
                  <a:blip r:embed="rId4"/>
                  <a:stretch>
                    <a:fillRect r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E3A9FD3-F9FE-57C0-0E6A-074D78FBC743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716124" y="1791892"/>
              <a:ext cx="642954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2E5B4E8-B25B-5E56-9871-A0458F255FD3}"/>
                    </a:ext>
                  </a:extLst>
                </p:cNvPr>
                <p:cNvSpPr/>
                <p:nvPr/>
              </p:nvSpPr>
              <p:spPr>
                <a:xfrm>
                  <a:off x="5240079" y="1227030"/>
                  <a:ext cx="716479" cy="46166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2E5B4E8-B25B-5E56-9871-A0458F255F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0079" y="1227030"/>
                  <a:ext cx="716479" cy="461667"/>
                </a:xfrm>
                <a:prstGeom prst="rect">
                  <a:avLst/>
                </a:prstGeom>
                <a:blipFill>
                  <a:blip r:embed="rId5"/>
                  <a:stretch>
                    <a:fillRect l="-3846" r="-11538" b="-12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04888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5582-BBFA-DB77-6E6D-FCCDB58A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Laplace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8BCBC-D0D8-927B-2DEC-65EBB9CCA1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4114800" cy="72124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=5+3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8BCBC-D0D8-927B-2DEC-65EBB9CCA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4114800" cy="72124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056D8-CFEF-DEAF-93A7-67955BF582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14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445AB-D343-C63A-2E89-C0E59FA0CD89}"/>
                  </a:ext>
                </a:extLst>
              </p:cNvPr>
              <p:cNvSpPr txBox="1"/>
              <p:nvPr/>
            </p:nvSpPr>
            <p:spPr>
              <a:xfrm>
                <a:off x="698090" y="2717730"/>
                <a:ext cx="2192347" cy="636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445AB-D343-C63A-2E89-C0E59FA0C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90" y="2717730"/>
                <a:ext cx="2192347" cy="6366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98AE56-35D5-BEAA-065B-31BB40BFB5E0}"/>
                  </a:ext>
                </a:extLst>
              </p:cNvPr>
              <p:cNvSpPr txBox="1"/>
              <p:nvPr/>
            </p:nvSpPr>
            <p:spPr>
              <a:xfrm>
                <a:off x="88245" y="5074600"/>
                <a:ext cx="3981818" cy="62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+100</m:t>
                    </m:r>
                  </m:oMath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98AE56-35D5-BEAA-065B-31BB40BFB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5" y="5074600"/>
                <a:ext cx="3981818" cy="621902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0C6054-39C4-A357-0FB7-2E7700295AD2}"/>
                  </a:ext>
                </a:extLst>
              </p:cNvPr>
              <p:cNvSpPr txBox="1"/>
              <p:nvPr/>
            </p:nvSpPr>
            <p:spPr>
              <a:xfrm>
                <a:off x="678181" y="3483813"/>
                <a:ext cx="2431024" cy="636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=3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0C6054-39C4-A357-0FB7-2E7700295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1" y="3483813"/>
                <a:ext cx="2431024" cy="6366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4DFBA8-6A18-0283-5F8D-CB204FE01247}"/>
                  </a:ext>
                </a:extLst>
              </p:cNvPr>
              <p:cNvSpPr txBox="1"/>
              <p:nvPr/>
            </p:nvSpPr>
            <p:spPr>
              <a:xfrm>
                <a:off x="619188" y="4249897"/>
                <a:ext cx="31858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4DFBA8-6A18-0283-5F8D-CB204FE01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88" y="4249897"/>
                <a:ext cx="318589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164A2B-6A18-CEF4-434F-44ADD8A6DD54}"/>
                  </a:ext>
                </a:extLst>
              </p:cNvPr>
              <p:cNvSpPr txBox="1"/>
              <p:nvPr/>
            </p:nvSpPr>
            <p:spPr>
              <a:xfrm>
                <a:off x="678181" y="2218964"/>
                <a:ext cx="39818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5)+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164A2B-6A18-CEF4-434F-44ADD8A6D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1" y="2218964"/>
                <a:ext cx="3981819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26F348B9-BDCF-580A-62FF-1DF859E2DD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8916" y="1556228"/>
                <a:ext cx="3274884" cy="37236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/>
              <a:lstStyle>
                <a:lvl1pPr marL="342900" indent="-3429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ＭＳ Ｐゴシック" pitchFamily="-112" charset="-128"/>
                  </a:defRPr>
                </a:lvl1pPr>
                <a:lvl2pPr marL="742950" indent="-28575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2pPr>
                <a:lvl3pPr marL="11430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3pPr>
                <a:lvl4pPr marL="16002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4pPr>
                <a:lvl5pPr marL="20574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>
                    <a:ea typeface="Cambria Math" panose="02040503050406030204" pitchFamily="18" charset="0"/>
                  </a:rPr>
                  <a:t>S1: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S2: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S3: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S4: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P1: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P2: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∫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dt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P3: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P4: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26F348B9-BDCF-580A-62FF-1DF859E2D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916" y="1556228"/>
                <a:ext cx="3274884" cy="3723695"/>
              </a:xfrm>
              <a:prstGeom prst="rect">
                <a:avLst/>
              </a:prstGeom>
              <a:blipFill>
                <a:blip r:embed="rId8"/>
                <a:stretch>
                  <a:fillRect l="-1158" t="-680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65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5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AE35-2C29-387E-E6D0-80B856FC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EE428-0571-51A5-5ECD-9428217C8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Laplace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DD1EC6-D24B-27DE-1BCC-C3C43B0129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599"/>
                <a:ext cx="4026310" cy="673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+∫8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0.2 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DD1EC6-D24B-27DE-1BCC-C3C43B0129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599"/>
                <a:ext cx="4026310" cy="673511"/>
              </a:xfrm>
              <a:blipFill>
                <a:blip r:embed="rId2"/>
                <a:stretch>
                  <a:fillRect t="-3774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A2F36-FEC6-843B-5765-0A7B6517A3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15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A73E396-099F-E6A4-D833-C9CEBFA846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8916" y="1556228"/>
                <a:ext cx="3274884" cy="37236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/>
              <a:lstStyle>
                <a:lvl1pPr marL="342900" indent="-3429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ＭＳ Ｐゴシック" pitchFamily="-112" charset="-128"/>
                  </a:defRPr>
                </a:lvl1pPr>
                <a:lvl2pPr marL="742950" indent="-28575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2pPr>
                <a:lvl3pPr marL="11430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3pPr>
                <a:lvl4pPr marL="16002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4pPr>
                <a:lvl5pPr marL="20574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>
                    <a:ea typeface="Cambria Math" panose="02040503050406030204" pitchFamily="18" charset="0"/>
                  </a:rPr>
                  <a:t>S1: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S2: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S3: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S4: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P1: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P2: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∫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dt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P3: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P4: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A73E396-099F-E6A4-D833-C9CEBFA84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916" y="1556228"/>
                <a:ext cx="3274884" cy="3723695"/>
              </a:xfrm>
              <a:prstGeom prst="rect">
                <a:avLst/>
              </a:prstGeom>
              <a:blipFill>
                <a:blip r:embed="rId3"/>
                <a:stretch>
                  <a:fillRect l="-1158" t="-680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290C7D-F17D-27F6-963B-63BF08261058}"/>
                  </a:ext>
                </a:extLst>
              </p:cNvPr>
              <p:cNvSpPr txBox="1"/>
              <p:nvPr/>
            </p:nvSpPr>
            <p:spPr>
              <a:xfrm>
                <a:off x="333557" y="2516006"/>
                <a:ext cx="2457323" cy="64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290C7D-F17D-27F6-963B-63BF08261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57" y="2516006"/>
                <a:ext cx="2457323" cy="641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ABA6E5-AA4A-1982-67E9-DAE5DE5D3AE9}"/>
                  </a:ext>
                </a:extLst>
              </p:cNvPr>
              <p:cNvSpPr txBox="1"/>
              <p:nvPr/>
            </p:nvSpPr>
            <p:spPr>
              <a:xfrm>
                <a:off x="457200" y="3203211"/>
                <a:ext cx="4572000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∫8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0.2 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0.2 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ABA6E5-AA4A-1982-67E9-DAE5DE5D3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03211"/>
                <a:ext cx="4572000" cy="612796"/>
              </a:xfrm>
              <a:prstGeom prst="rect">
                <a:avLst/>
              </a:prstGeom>
              <a:blipFill>
                <a:blip r:embed="rId5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6730FF1D-DC89-3570-C25F-B0F5E50998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5690" y="4315308"/>
                <a:ext cx="4026310" cy="67351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ＭＳ Ｐゴシック" pitchFamily="-112" charset="-128"/>
                  </a:defRPr>
                </a:lvl1pPr>
                <a:lvl2pPr marL="742950" indent="-28575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2pPr>
                <a:lvl3pPr marL="11430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3pPr>
                <a:lvl4pPr marL="16002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4pPr>
                <a:lvl5pPr marL="20574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−0.2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6730FF1D-DC89-3570-C25F-B0F5E5099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90" y="4315308"/>
                <a:ext cx="4026310" cy="67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68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8E35-9570-BF3E-B88B-86370D07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Poles &amp; Laplace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327AF-62DB-D193-6419-7F85B6ED8A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a pole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 is equivalent to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a root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in the denominator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”.</a:t>
                </a:r>
              </a:p>
              <a:p>
                <a:r>
                  <a:rPr lang="en-US" dirty="0"/>
                  <a:t>Examples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327AF-62DB-D193-6419-7F85B6ED8A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9F018-C58E-3372-BE08-DDC1BB8925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16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613773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5582-BBFA-DB77-6E6D-FCCDB58A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poles? What are the signals?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8BCBC-D0D8-927B-2DEC-65EBB9CCA1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	poles at 0. Step + impulse.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−0.2)</m:t>
                        </m:r>
                      </m:den>
                    </m:f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poles at -4, 0, 0.2. unstable.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8BCBC-D0D8-927B-2DEC-65EBB9CCA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056D8-CFEF-DEAF-93A7-67955BF582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17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976CBB5-85DB-7650-5C6F-463E6D415A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8916" y="1556228"/>
                <a:ext cx="3274884" cy="37236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/>
              <a:lstStyle>
                <a:lvl1pPr marL="342900" indent="-3429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ＭＳ Ｐゴシック" pitchFamily="-112" charset="-128"/>
                  </a:defRPr>
                </a:lvl1pPr>
                <a:lvl2pPr marL="742950" indent="-28575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2pPr>
                <a:lvl3pPr marL="11430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3pPr>
                <a:lvl4pPr marL="16002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4pPr>
                <a:lvl5pPr marL="20574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>
                    <a:ea typeface="Cambria Math" panose="02040503050406030204" pitchFamily="18" charset="0"/>
                  </a:rPr>
                  <a:t>S1: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S2: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S3: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S4: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P1: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P2: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∫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dt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P3: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P4: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976CBB5-85DB-7650-5C6F-463E6D415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916" y="1556228"/>
                <a:ext cx="3274884" cy="3723695"/>
              </a:xfrm>
              <a:prstGeom prst="rect">
                <a:avLst/>
              </a:prstGeom>
              <a:blipFill>
                <a:blip r:embed="rId3"/>
                <a:stretch>
                  <a:fillRect l="-1158" t="-680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7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C551-5D3B-8D17-1B3C-F41579E53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E14E-0558-8CEC-8647-88E9FB74A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&amp; Transfer Functions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15BA13-1D72-D58C-8E28-23C01A8F1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18</a:t>
            </a:fld>
            <a:endParaRPr lang="en-US" altLang="x-non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0BE3F5-E5C3-4DAC-806A-54FAD57042FD}"/>
              </a:ext>
            </a:extLst>
          </p:cNvPr>
          <p:cNvSpPr txBox="1"/>
          <p:nvPr/>
        </p:nvSpPr>
        <p:spPr>
          <a:xfrm>
            <a:off x="651933" y="2029648"/>
            <a:ext cx="74000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Transfer functions describe </a:t>
            </a:r>
            <a:r>
              <a:rPr lang="en-US" b="1" dirty="0"/>
              <a:t>systems</a:t>
            </a:r>
            <a:r>
              <a:rPr lang="en-US" dirty="0"/>
              <a:t>. A system converts the input signal to the output signal.</a:t>
            </a:r>
          </a:p>
          <a:p>
            <a:r>
              <a:rPr lang="en-US" dirty="0"/>
              <a:t>A transfer function is the ratio of the Laplace transform of the output to the Laplace transform of the input.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96EE549-4A77-9214-51B4-F1036E7D37F1}"/>
                  </a:ext>
                </a:extLst>
              </p:cNvPr>
              <p:cNvSpPr/>
              <p:nvPr/>
            </p:nvSpPr>
            <p:spPr>
              <a:xfrm>
                <a:off x="910168" y="3229415"/>
                <a:ext cx="1477584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96EE549-4A77-9214-51B4-F1036E7D37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68" y="3229415"/>
                <a:ext cx="1477584" cy="669094"/>
              </a:xfrm>
              <a:prstGeom prst="rect">
                <a:avLst/>
              </a:prstGeom>
              <a:blipFill>
                <a:blip r:embed="rId2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D40022F-FA12-ADBE-D28F-4EE950314EDA}"/>
              </a:ext>
            </a:extLst>
          </p:cNvPr>
          <p:cNvSpPr txBox="1"/>
          <p:nvPr/>
        </p:nvSpPr>
        <p:spPr>
          <a:xfrm>
            <a:off x="527749" y="4013647"/>
            <a:ext cx="764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transfer function is a Laplace transform and so has all of its properties.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2DC03F-7D37-BF5E-58AD-E8F9724B7238}"/>
              </a:ext>
            </a:extLst>
          </p:cNvPr>
          <p:cNvGrpSpPr>
            <a:grpSpLocks noChangeAspect="1"/>
          </p:cNvGrpSpPr>
          <p:nvPr/>
        </p:nvGrpSpPr>
        <p:grpSpPr>
          <a:xfrm>
            <a:off x="3215186" y="1048377"/>
            <a:ext cx="2934153" cy="718504"/>
            <a:chOff x="2353379" y="1227030"/>
            <a:chExt cx="3603179" cy="8823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958E986-B4AD-5B38-117F-9CFA1AB573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620277" y="1474417"/>
                  <a:ext cx="1095847" cy="634949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958E986-B4AD-5B38-117F-9CFA1AB573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0277" y="1474417"/>
                  <a:ext cx="1095847" cy="63494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708B05E-3E37-8241-486D-BDDA0BEBE0FB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3009418" y="1791892"/>
              <a:ext cx="610859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5BAC6F8-F55C-5C3C-F713-94387C151B0B}"/>
                    </a:ext>
                  </a:extLst>
                </p:cNvPr>
                <p:cNvSpPr/>
                <p:nvPr/>
              </p:nvSpPr>
              <p:spPr>
                <a:xfrm>
                  <a:off x="2353379" y="1227066"/>
                  <a:ext cx="716476" cy="56693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5BAC6F8-F55C-5C3C-F713-94387C151B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3379" y="1227066"/>
                  <a:ext cx="716476" cy="566933"/>
                </a:xfrm>
                <a:prstGeom prst="rect">
                  <a:avLst/>
                </a:prstGeom>
                <a:blipFill>
                  <a:blip r:embed="rId4"/>
                  <a:stretch>
                    <a:fillRect r="-43750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D1EAD25-AD7E-56C0-BE24-83983E41CDBD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4716124" y="1791892"/>
              <a:ext cx="642954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46AD045-0BB3-DE1D-C434-AB4046DF97CC}"/>
                    </a:ext>
                  </a:extLst>
                </p:cNvPr>
                <p:cNvSpPr/>
                <p:nvPr/>
              </p:nvSpPr>
              <p:spPr>
                <a:xfrm>
                  <a:off x="5240079" y="1227030"/>
                  <a:ext cx="716479" cy="56693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46AD045-0BB3-DE1D-C434-AB4046DF97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0079" y="1227030"/>
                  <a:ext cx="716479" cy="566933"/>
                </a:xfrm>
                <a:prstGeom prst="rect">
                  <a:avLst/>
                </a:prstGeom>
                <a:blipFill>
                  <a:blip r:embed="rId5"/>
                  <a:stretch>
                    <a:fillRect l="-2128" r="-40426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834AF86-AC7E-2871-75CD-6C32CCFE687D}"/>
              </a:ext>
            </a:extLst>
          </p:cNvPr>
          <p:cNvSpPr txBox="1"/>
          <p:nvPr/>
        </p:nvSpPr>
        <p:spPr>
          <a:xfrm>
            <a:off x="527749" y="4643614"/>
            <a:ext cx="59940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Transfer function is the ratio of two polynomials in </a:t>
            </a:r>
            <a:r>
              <a:rPr lang="en-US" i="1" dirty="0"/>
              <a:t>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roots of the numerator are its </a:t>
            </a:r>
            <a:r>
              <a:rPr lang="en-US" b="1" dirty="0"/>
              <a:t>zeros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roots of the denominator are its </a:t>
            </a:r>
            <a:r>
              <a:rPr lang="en-US" b="1" dirty="0"/>
              <a:t>poles</a:t>
            </a:r>
          </a:p>
        </p:txBody>
      </p:sp>
    </p:spTree>
    <p:extLst>
      <p:ext uri="{BB962C8B-B14F-4D97-AF65-F5344CB8AC3E}">
        <p14:creationId xmlns:p14="http://schemas.microsoft.com/office/powerpoint/2010/main" val="9777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D5D0-0E73-B14F-9B9C-E2B70CD7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functions can be composed.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601717-C215-1E49-A056-33CB9DACCA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19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58BA28-E7C2-D94E-9C22-3A93766AC8FB}"/>
                  </a:ext>
                </a:extLst>
              </p:cNvPr>
              <p:cNvSpPr txBox="1"/>
              <p:nvPr/>
            </p:nvSpPr>
            <p:spPr>
              <a:xfrm>
                <a:off x="658513" y="4798162"/>
                <a:ext cx="1378070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58BA28-E7C2-D94E-9C22-3A93766AC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13" y="4798162"/>
                <a:ext cx="1378070" cy="576761"/>
              </a:xfrm>
              <a:prstGeom prst="rect">
                <a:avLst/>
              </a:prstGeom>
              <a:blipFill>
                <a:blip r:embed="rId2"/>
                <a:stretch>
                  <a:fillRect l="-2727" t="-4255" r="-5455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63A176-AEBA-134A-A5B7-1BBA08D02D36}"/>
                  </a:ext>
                </a:extLst>
              </p:cNvPr>
              <p:cNvSpPr txBox="1"/>
              <p:nvPr/>
            </p:nvSpPr>
            <p:spPr>
              <a:xfrm>
                <a:off x="3505613" y="5016577"/>
                <a:ext cx="8515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63A176-AEBA-134A-A5B7-1BBA08D02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613" y="5016577"/>
                <a:ext cx="851580" cy="276999"/>
              </a:xfrm>
              <a:prstGeom prst="rect">
                <a:avLst/>
              </a:prstGeom>
              <a:blipFill>
                <a:blip r:embed="rId3"/>
                <a:stretch>
                  <a:fillRect l="-5882" r="-1471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1DEC7DA-1836-CF46-BF01-C9B1332A234C}"/>
                  </a:ext>
                </a:extLst>
              </p:cNvPr>
              <p:cNvSpPr/>
              <p:nvPr/>
            </p:nvSpPr>
            <p:spPr>
              <a:xfrm>
                <a:off x="4357193" y="4820529"/>
                <a:ext cx="708014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1DEC7DA-1836-CF46-BF01-C9B1332A23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193" y="4820529"/>
                <a:ext cx="708014" cy="669094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94A12E1C-2FF5-3A40-BCB0-A7AA639025BC}"/>
              </a:ext>
            </a:extLst>
          </p:cNvPr>
          <p:cNvGrpSpPr/>
          <p:nvPr/>
        </p:nvGrpSpPr>
        <p:grpSpPr>
          <a:xfrm>
            <a:off x="2447336" y="2693677"/>
            <a:ext cx="3544472" cy="1349640"/>
            <a:chOff x="-324199" y="1873625"/>
            <a:chExt cx="5985026" cy="15864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B8BBE0-69CD-FE46-9F0D-E8AFBC33B252}"/>
                </a:ext>
              </a:extLst>
            </p:cNvPr>
            <p:cNvSpPr/>
            <p:nvPr/>
          </p:nvSpPr>
          <p:spPr>
            <a:xfrm>
              <a:off x="1348043" y="2155435"/>
              <a:ext cx="962135" cy="85023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D3846DF-7C86-8B4F-9187-A14C8BEF2CB8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304800" y="2563598"/>
              <a:ext cx="1043243" cy="16954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7065D3B-7898-B740-A1DC-70EF83C9F341}"/>
                    </a:ext>
                  </a:extLst>
                </p:cNvPr>
                <p:cNvSpPr txBox="1"/>
                <p:nvPr/>
              </p:nvSpPr>
              <p:spPr>
                <a:xfrm>
                  <a:off x="-324199" y="2164403"/>
                  <a:ext cx="1006046" cy="36177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i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7065D3B-7898-B740-A1DC-70EF83C9F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4199" y="2164403"/>
                  <a:ext cx="1006046" cy="361779"/>
                </a:xfrm>
                <a:prstGeom prst="rect">
                  <a:avLst/>
                </a:prstGeom>
                <a:blipFill>
                  <a:blip r:embed="rId5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CFF490A-495F-374A-AECE-62058900D8A9}"/>
                    </a:ext>
                  </a:extLst>
                </p:cNvPr>
                <p:cNvSpPr/>
                <p:nvPr/>
              </p:nvSpPr>
              <p:spPr>
                <a:xfrm>
                  <a:off x="1362474" y="2414791"/>
                  <a:ext cx="1107712" cy="3617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CFF490A-495F-374A-AECE-62058900D8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2474" y="2414791"/>
                  <a:ext cx="1107712" cy="361779"/>
                </a:xfrm>
                <a:prstGeom prst="rect">
                  <a:avLst/>
                </a:prstGeom>
                <a:blipFill>
                  <a:blip r:embed="rId6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5FBF901-68E1-6B49-9709-B31ECC1C89CD}"/>
                </a:ext>
              </a:extLst>
            </p:cNvPr>
            <p:cNvSpPr/>
            <p:nvPr/>
          </p:nvSpPr>
          <p:spPr>
            <a:xfrm>
              <a:off x="3087195" y="2164402"/>
              <a:ext cx="962135" cy="85023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473F245-2623-A646-855A-930F0EB573B4}"/>
                </a:ext>
              </a:extLst>
            </p:cNvPr>
            <p:cNvCxnSpPr>
              <a:cxnSpLocks/>
              <a:stCxn id="21" idx="3"/>
              <a:endCxn id="25" idx="1"/>
            </p:cNvCxnSpPr>
            <p:nvPr/>
          </p:nvCxnSpPr>
          <p:spPr>
            <a:xfrm>
              <a:off x="2310178" y="2580552"/>
              <a:ext cx="777017" cy="8967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69DB4B6-24C2-7648-93C7-C45A2F5B41B4}"/>
                    </a:ext>
                  </a:extLst>
                </p:cNvPr>
                <p:cNvSpPr/>
                <p:nvPr/>
              </p:nvSpPr>
              <p:spPr>
                <a:xfrm>
                  <a:off x="3105813" y="2361004"/>
                  <a:ext cx="1114750" cy="3617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69DB4B6-24C2-7648-93C7-C45A2F5B41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5813" y="2361004"/>
                  <a:ext cx="1114750" cy="361779"/>
                </a:xfrm>
                <a:prstGeom prst="rect">
                  <a:avLst/>
                </a:prstGeom>
                <a:blipFill>
                  <a:blip r:embed="rId7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3E31022-1E57-A344-AAC7-224E6DCA5F4B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4220563" y="2541894"/>
              <a:ext cx="911209" cy="3773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E0901B5-AE52-ED4F-AF68-35C915C16985}"/>
                    </a:ext>
                  </a:extLst>
                </p:cNvPr>
                <p:cNvSpPr txBox="1"/>
                <p:nvPr/>
              </p:nvSpPr>
              <p:spPr>
                <a:xfrm>
                  <a:off x="4788710" y="2121659"/>
                  <a:ext cx="872117" cy="36177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US" sz="1400" dirty="0"/>
                    <a:t>)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E0901B5-AE52-ED4F-AF68-35C915C16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710" y="2121659"/>
                  <a:ext cx="872117" cy="361779"/>
                </a:xfrm>
                <a:prstGeom prst="rect">
                  <a:avLst/>
                </a:prstGeom>
                <a:blipFill>
                  <a:blip r:embed="rId8"/>
                  <a:stretch>
                    <a:fillRect r="-2439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EB6B88E-6C39-0440-A8B2-E6C8F5037B79}"/>
                </a:ext>
              </a:extLst>
            </p:cNvPr>
            <p:cNvSpPr/>
            <p:nvPr/>
          </p:nvSpPr>
          <p:spPr>
            <a:xfrm>
              <a:off x="830437" y="1873625"/>
              <a:ext cx="3877587" cy="15864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  <a:effectLst>
              <a:outerShdw dist="23000"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3DFFF1D-95F8-FE44-8B3A-DD25A6D67C96}"/>
                  </a:ext>
                </a:extLst>
              </p:cNvPr>
              <p:cNvSpPr/>
              <p:nvPr/>
            </p:nvSpPr>
            <p:spPr>
              <a:xfrm>
                <a:off x="3791828" y="3682485"/>
                <a:ext cx="708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3DFFF1D-95F8-FE44-8B3A-DD25A6D67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828" y="3682485"/>
                <a:ext cx="70852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302BC02-45E8-524B-9DBC-48BDF654CC42}"/>
                  </a:ext>
                </a:extLst>
              </p:cNvPr>
              <p:cNvSpPr txBox="1"/>
              <p:nvPr/>
            </p:nvSpPr>
            <p:spPr>
              <a:xfrm>
                <a:off x="5870268" y="4994210"/>
                <a:ext cx="7611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302BC02-45E8-524B-9DBC-48BDF654C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268" y="4994210"/>
                <a:ext cx="761106" cy="276999"/>
              </a:xfrm>
              <a:prstGeom prst="rect">
                <a:avLst/>
              </a:prstGeom>
              <a:blipFill>
                <a:blip r:embed="rId10"/>
                <a:stretch>
                  <a:fillRect l="-6557" r="-163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D187501-145E-A141-AE15-2961FBCB5D0E}"/>
                  </a:ext>
                </a:extLst>
              </p:cNvPr>
              <p:cNvSpPr/>
              <p:nvPr/>
            </p:nvSpPr>
            <p:spPr>
              <a:xfrm>
                <a:off x="6624190" y="4798162"/>
                <a:ext cx="708014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D187501-145E-A141-AE15-2961FBCB5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190" y="4798162"/>
                <a:ext cx="708014" cy="669094"/>
              </a:xfrm>
              <a:prstGeom prst="rect">
                <a:avLst/>
              </a:prstGeom>
              <a:blipFill>
                <a:blip r:embed="rId11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4215BE-EFEE-2744-A330-65B612ADA62F}"/>
                  </a:ext>
                </a:extLst>
              </p:cNvPr>
              <p:cNvSpPr txBox="1"/>
              <p:nvPr/>
            </p:nvSpPr>
            <p:spPr>
              <a:xfrm>
                <a:off x="3929813" y="2936304"/>
                <a:ext cx="5886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4215BE-EFEE-2744-A330-65B612ADA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813" y="2936304"/>
                <a:ext cx="588623" cy="307777"/>
              </a:xfrm>
              <a:prstGeom prst="rect">
                <a:avLst/>
              </a:prstGeom>
              <a:blipFill>
                <a:blip r:embed="rId1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B2EA764E-91E7-FC16-AA86-F9D7A23A1773}"/>
              </a:ext>
            </a:extLst>
          </p:cNvPr>
          <p:cNvGrpSpPr/>
          <p:nvPr/>
        </p:nvGrpSpPr>
        <p:grpSpPr>
          <a:xfrm>
            <a:off x="2331764" y="1219893"/>
            <a:ext cx="3387446" cy="538288"/>
            <a:chOff x="2331764" y="1219893"/>
            <a:chExt cx="3387446" cy="53828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DCAC442-7C78-B608-19F4-CEBD227E50F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13242" y="1219893"/>
              <a:ext cx="2505968" cy="538288"/>
              <a:chOff x="3009418" y="1448339"/>
              <a:chExt cx="3077362" cy="6610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A26D5CAF-D4DD-D2EC-C9BD-1BB2FF6F17D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620277" y="1474417"/>
                    <a:ext cx="1095847" cy="634949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A26D5CAF-D4DD-D2EC-C9BD-1BB2FF6F17D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20277" y="1474417"/>
                    <a:ext cx="1095847" cy="63494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43B7717-BAE3-FD86-746C-F4BD6C1A55F0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3009418" y="1791892"/>
                <a:ext cx="610859" cy="0"/>
              </a:xfrm>
              <a:prstGeom prst="straightConnector1">
                <a:avLst/>
              </a:prstGeom>
              <a:ln>
                <a:tailEnd type="triangle" w="lg" len="lg"/>
              </a:ln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14F1BDB-D8C7-C923-6834-C6399031659D}"/>
                  </a:ext>
                </a:extLst>
              </p:cNvPr>
              <p:cNvCxnSpPr>
                <a:cxnSpLocks/>
                <a:stCxn id="13" idx="3"/>
              </p:cNvCxnSpPr>
              <p:nvPr/>
            </p:nvCxnSpPr>
            <p:spPr>
              <a:xfrm>
                <a:off x="4716124" y="1791892"/>
                <a:ext cx="642954" cy="0"/>
              </a:xfrm>
              <a:prstGeom prst="straightConnector1">
                <a:avLst/>
              </a:prstGeom>
              <a:ln>
                <a:tailEnd type="triangle" w="lg" len="lg"/>
              </a:ln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A916BA80-8CE7-52C8-0837-EFA8F6C563E6}"/>
                      </a:ext>
                    </a:extLst>
                  </p:cNvPr>
                  <p:cNvSpPr/>
                  <p:nvPr/>
                </p:nvSpPr>
                <p:spPr>
                  <a:xfrm>
                    <a:off x="5370301" y="1448339"/>
                    <a:ext cx="716479" cy="566933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A916BA80-8CE7-52C8-0837-EFA8F6C563E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0301" y="1448339"/>
                    <a:ext cx="716479" cy="56693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128" r="-40426" b="-162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05839E6-4B89-A96C-E622-9B16E4CF3E5B}"/>
                    </a:ext>
                  </a:extLst>
                </p:cNvPr>
                <p:cNvSpPr txBox="1"/>
                <p:nvPr/>
              </p:nvSpPr>
              <p:spPr>
                <a:xfrm>
                  <a:off x="2331764" y="1224850"/>
                  <a:ext cx="89268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05839E6-4B89-A96C-E622-9B16E4CF3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1764" y="1224850"/>
                  <a:ext cx="892680" cy="461665"/>
                </a:xfrm>
                <a:prstGeom prst="rect">
                  <a:avLst/>
                </a:prstGeom>
                <a:blipFill>
                  <a:blip r:embed="rId15"/>
                  <a:stretch>
                    <a:fillRect r="-1408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3865C45-FB59-DCD0-5DDF-5FB9710D6775}"/>
                  </a:ext>
                </a:extLst>
              </p:cNvPr>
              <p:cNvSpPr txBox="1"/>
              <p:nvPr/>
            </p:nvSpPr>
            <p:spPr>
              <a:xfrm>
                <a:off x="2023598" y="5808307"/>
                <a:ext cx="19211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3865C45-FB59-DCD0-5DDF-5FB9710D6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598" y="5808307"/>
                <a:ext cx="1921103" cy="276999"/>
              </a:xfrm>
              <a:prstGeom prst="rect">
                <a:avLst/>
              </a:prstGeom>
              <a:blipFill>
                <a:blip r:embed="rId16"/>
                <a:stretch>
                  <a:fillRect l="-1974" r="-3947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46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32" grpId="0"/>
      <p:bldP spid="36" grpId="0"/>
      <p:bldP spid="37" grpId="0"/>
      <p:bldP spid="11" grpId="0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BA73-C970-CA24-69B3-07D949B3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91" y="408898"/>
            <a:ext cx="5839494" cy="838200"/>
          </a:xfrm>
        </p:spPr>
        <p:txBody>
          <a:bodyPr/>
          <a:lstStyle/>
          <a:p>
            <a:r>
              <a:rPr lang="en-US" sz="2800" dirty="0"/>
              <a:t>Steady State Step Response (DC Gain)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93F727-09D4-01BF-BA48-A4022462E3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20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388BFF-0687-AAFC-3839-44F69616E6FC}"/>
                  </a:ext>
                </a:extLst>
              </p:cNvPr>
              <p:cNvSpPr txBox="1"/>
              <p:nvPr/>
            </p:nvSpPr>
            <p:spPr>
              <a:xfrm>
                <a:off x="457200" y="1277394"/>
                <a:ext cx="8229600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Steady state step response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400" dirty="0"/>
                  <a:t> is stable.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388BFF-0687-AAFC-3839-44F69616E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7394"/>
                <a:ext cx="8229600" cy="461665"/>
              </a:xfrm>
              <a:prstGeom prst="rect">
                <a:avLst/>
              </a:prstGeom>
              <a:blipFill>
                <a:blip r:embed="rId2"/>
                <a:stretch>
                  <a:fillRect l="-1235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3110EEB-34B4-93F3-26FA-CC850EEAD481}"/>
              </a:ext>
            </a:extLst>
          </p:cNvPr>
          <p:cNvGrpSpPr>
            <a:grpSpLocks noChangeAspect="1"/>
          </p:cNvGrpSpPr>
          <p:nvPr/>
        </p:nvGrpSpPr>
        <p:grpSpPr>
          <a:xfrm>
            <a:off x="6302940" y="387692"/>
            <a:ext cx="2398530" cy="392722"/>
            <a:chOff x="2210052" y="1188868"/>
            <a:chExt cx="3509158" cy="57457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C1E4859-25AC-07C2-2CEB-5EB6702E57F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13242" y="1219893"/>
              <a:ext cx="2505968" cy="543545"/>
              <a:chOff x="3009418" y="1448339"/>
              <a:chExt cx="3077362" cy="66748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D8E817DF-F878-B7BB-98E8-BC63B6B7A27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620277" y="1474417"/>
                    <a:ext cx="1095847" cy="634949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D8E817DF-F878-B7BB-98E8-BC63B6B7A27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20277" y="1474417"/>
                    <a:ext cx="1095847" cy="63494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5370D9A-5D4F-6E30-F576-79389F68972D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3009418" y="1791892"/>
                <a:ext cx="610859" cy="0"/>
              </a:xfrm>
              <a:prstGeom prst="straightConnector1">
                <a:avLst/>
              </a:prstGeom>
              <a:ln>
                <a:tailEnd type="triangle" w="lg" len="lg"/>
              </a:ln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7CEEC88-6919-2028-9048-0A59A384042A}"/>
                  </a:ext>
                </a:extLst>
              </p:cNvPr>
              <p:cNvCxnSpPr>
                <a:cxnSpLocks/>
                <a:stCxn id="13" idx="3"/>
              </p:cNvCxnSpPr>
              <p:nvPr/>
            </p:nvCxnSpPr>
            <p:spPr>
              <a:xfrm>
                <a:off x="4716124" y="1791892"/>
                <a:ext cx="642954" cy="0"/>
              </a:xfrm>
              <a:prstGeom prst="straightConnector1">
                <a:avLst/>
              </a:prstGeom>
              <a:ln>
                <a:tailEnd type="triangle" w="lg" len="lg"/>
              </a:ln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C0B5FD2C-1F88-8071-4F02-43B5CBA30BD1}"/>
                      </a:ext>
                    </a:extLst>
                  </p:cNvPr>
                  <p:cNvSpPr/>
                  <p:nvPr/>
                </p:nvSpPr>
                <p:spPr>
                  <a:xfrm>
                    <a:off x="5370301" y="1448339"/>
                    <a:ext cx="716479" cy="667483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C0B5FD2C-1F88-8071-4F02-43B5CBA30BD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0301" y="1448339"/>
                    <a:ext cx="716479" cy="66748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62500" b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CFDA923-6B92-291A-1D43-5CDD790BDEA5}"/>
                    </a:ext>
                  </a:extLst>
                </p:cNvPr>
                <p:cNvSpPr txBox="1"/>
                <p:nvPr/>
              </p:nvSpPr>
              <p:spPr>
                <a:xfrm>
                  <a:off x="2210052" y="1188868"/>
                  <a:ext cx="1054439" cy="5435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CFDA923-6B92-291A-1D43-5CDD790BD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052" y="1188868"/>
                  <a:ext cx="1054439" cy="543545"/>
                </a:xfrm>
                <a:prstGeom prst="rect">
                  <a:avLst/>
                </a:prstGeom>
                <a:blipFill>
                  <a:blip r:embed="rId5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1" name="Picture 4">
            <a:extLst>
              <a:ext uri="{FF2B5EF4-FFF2-40B4-BE49-F238E27FC236}">
                <a16:creationId xmlns:a16="http://schemas.microsoft.com/office/drawing/2014/main" id="{F125E3C5-78A2-CC9A-819F-BA36EA6EF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56" y="2257245"/>
            <a:ext cx="2286977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7A33F60A-A5EF-F268-00AE-6B2FF9D59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425" y="2125026"/>
            <a:ext cx="22556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B0A9401C-C886-D589-1B71-76533CF77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160" y="4405493"/>
            <a:ext cx="22556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50EB1F8-9022-B1B3-981A-790CF001EE8D}"/>
              </a:ext>
            </a:extLst>
          </p:cNvPr>
          <p:cNvSpPr txBox="1"/>
          <p:nvPr/>
        </p:nvSpPr>
        <p:spPr>
          <a:xfrm>
            <a:off x="4333274" y="3915396"/>
            <a:ext cx="1887055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FBF4B9-4ADD-5B41-8E1A-27DA8AFFFB37}"/>
              </a:ext>
            </a:extLst>
          </p:cNvPr>
          <p:cNvSpPr txBox="1"/>
          <p:nvPr/>
        </p:nvSpPr>
        <p:spPr>
          <a:xfrm>
            <a:off x="6481226" y="5111055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unstable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5FE8A1-14EC-266D-FC32-3619A6E16B54}"/>
                  </a:ext>
                </a:extLst>
              </p:cNvPr>
              <p:cNvSpPr txBox="1"/>
              <p:nvPr/>
            </p:nvSpPr>
            <p:spPr>
              <a:xfrm>
                <a:off x="905417" y="4142985"/>
                <a:ext cx="1979453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0+5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5FE8A1-14EC-266D-FC32-3619A6E16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17" y="4142985"/>
                <a:ext cx="1979453" cy="525016"/>
              </a:xfrm>
              <a:prstGeom prst="rect">
                <a:avLst/>
              </a:prstGeom>
              <a:blipFill>
                <a:blip r:embed="rId9"/>
                <a:stretch>
                  <a:fillRect l="-1911" t="-4762" r="-1274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92F81E-89F3-9041-8043-0E638B8DD7EA}"/>
                  </a:ext>
                </a:extLst>
              </p:cNvPr>
              <p:cNvSpPr txBox="1"/>
              <p:nvPr/>
            </p:nvSpPr>
            <p:spPr>
              <a:xfrm>
                <a:off x="6481226" y="4007424"/>
                <a:ext cx="1979452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0+0.5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92F81E-89F3-9041-8043-0E638B8DD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226" y="4007424"/>
                <a:ext cx="1979452" cy="525016"/>
              </a:xfrm>
              <a:prstGeom prst="rect">
                <a:avLst/>
              </a:prstGeom>
              <a:blipFill>
                <a:blip r:embed="rId10"/>
                <a:stretch>
                  <a:fillRect l="-1911" t="-4651" r="-1911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42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2B1B-538B-F879-D377-DCEFD9509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Need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E7F5E-ACD6-64BE-0D10-EC5AA2739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Relate poles in transfer functions to stability, oscillations, settling times.</a:t>
            </a:r>
          </a:p>
          <a:p>
            <a:r>
              <a:rPr lang="en-US" dirty="0"/>
              <a:t>Calculate DC gain from transfer functions.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FFDAE-8719-7C09-739E-2FAA52DBAF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21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216428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219306</TotalTime>
  <Words>1351</Words>
  <Application>Microsoft Macintosh PowerPoint</Application>
  <PresentationFormat>On-screen Show (4:3)</PresentationFormat>
  <Paragraphs>211</Paragraphs>
  <Slides>21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ＭＳ Ｐゴシック</vt:lpstr>
      <vt:lpstr>Arial</vt:lpstr>
      <vt:lpstr>Calibri</vt:lpstr>
      <vt:lpstr>Cambria Math</vt:lpstr>
      <vt:lpstr>Office Theme</vt:lpstr>
      <vt:lpstr>BIOE 498 / BIOE 599  Advanced Biological Control Systems   Linear Time Invariant Systems  </vt:lpstr>
      <vt:lpstr>Agenda</vt:lpstr>
      <vt:lpstr>Why Model?</vt:lpstr>
      <vt:lpstr>G.P.E. Box (Famous Statistician)</vt:lpstr>
      <vt:lpstr>Modeling signals &amp; systems is about dynamics.</vt:lpstr>
      <vt:lpstr>First Order Linear Time Invariant (LTI) System</vt:lpstr>
      <vt:lpstr>Pole</vt:lpstr>
      <vt:lpstr>Systems of Differential Equations</vt:lpstr>
      <vt:lpstr>Summary</vt:lpstr>
      <vt:lpstr>Summary</vt:lpstr>
      <vt:lpstr>Laplace Transform (LT)</vt:lpstr>
      <vt:lpstr>Laplace Transforms of Basic Signals</vt:lpstr>
      <vt:lpstr>Laplace Transforms Properties</vt:lpstr>
      <vt:lpstr>Find The Laplace Transform</vt:lpstr>
      <vt:lpstr>Find The Laplace Transform</vt:lpstr>
      <vt:lpstr>Poles &amp; Laplace Transforms</vt:lpstr>
      <vt:lpstr>What are the poles? What are the signals?</vt:lpstr>
      <vt:lpstr>Systems &amp; Transfer Functions</vt:lpstr>
      <vt:lpstr>Transfer functions can be composed.</vt:lpstr>
      <vt:lpstr>Steady State Step Response (DC Gain)</vt:lpstr>
      <vt:lpstr>What You Need to Know</vt:lpstr>
    </vt:vector>
  </TitlesOfParts>
  <Company>University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Tricia Caparas</dc:creator>
  <cp:lastModifiedBy>Joseph Hellerstein</cp:lastModifiedBy>
  <cp:revision>3265</cp:revision>
  <dcterms:created xsi:type="dcterms:W3CDTF">2008-11-04T22:35:39Z</dcterms:created>
  <dcterms:modified xsi:type="dcterms:W3CDTF">2026-01-09T23:42:51Z</dcterms:modified>
</cp:coreProperties>
</file>